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8" r:id="rId8"/>
    <p:sldId id="279" r:id="rId9"/>
    <p:sldId id="280" r:id="rId10"/>
    <p:sldId id="281" r:id="rId11"/>
    <p:sldId id="266" r:id="rId12"/>
    <p:sldId id="267" r:id="rId13"/>
    <p:sldId id="268" r:id="rId14"/>
    <p:sldId id="269" r:id="rId15"/>
    <p:sldId id="270" r:id="rId16"/>
    <p:sldId id="271" r:id="rId17"/>
    <p:sldId id="272" r:id="rId18"/>
    <p:sldId id="273" r:id="rId19"/>
    <p:sldId id="274"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58" y="9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4/7/2026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AD56C-D434-04FA-6074-931A2E184C2C}"/>
              </a:ext>
            </a:extLst>
          </p:cNvPr>
          <p:cNvSpPr>
            <a:spLocks noGrp="1"/>
          </p:cNvSpPr>
          <p:nvPr>
            <p:ph type="ctrTitle"/>
          </p:nvPr>
        </p:nvSpPr>
        <p:spPr>
          <a:xfrm>
            <a:off x="1707504" y="3025431"/>
            <a:ext cx="9905578" cy="834863"/>
          </a:xfrm>
        </p:spPr>
        <p:txBody>
          <a:bodyPr>
            <a:normAutofit/>
          </a:bodyPr>
          <a:lstStyle/>
          <a:p>
            <a:r>
              <a:rPr lang="en-US" sz="3200" dirty="0"/>
              <a:t>CEF440 Internet And Mobile Programming</a:t>
            </a:r>
          </a:p>
        </p:txBody>
      </p:sp>
      <p:sp>
        <p:nvSpPr>
          <p:cNvPr id="3" name="Subtitle 2">
            <a:extLst>
              <a:ext uri="{FF2B5EF4-FFF2-40B4-BE49-F238E27FC236}">
                <a16:creationId xmlns:a16="http://schemas.microsoft.com/office/drawing/2014/main" id="{16416E3D-BDB3-5321-2E01-09C6FFC9EAB1}"/>
              </a:ext>
            </a:extLst>
          </p:cNvPr>
          <p:cNvSpPr>
            <a:spLocks noGrp="1"/>
          </p:cNvSpPr>
          <p:nvPr>
            <p:ph type="subTitle" idx="1"/>
          </p:nvPr>
        </p:nvSpPr>
        <p:spPr>
          <a:xfrm>
            <a:off x="6334299" y="5811362"/>
            <a:ext cx="5278784" cy="711657"/>
          </a:xfrm>
        </p:spPr>
        <p:txBody>
          <a:bodyPr>
            <a:normAutofit/>
          </a:bodyPr>
          <a:lstStyle/>
          <a:p>
            <a:r>
              <a:rPr lang="en-US" sz="2400" dirty="0"/>
              <a:t>Course Instructor: Dr Valery </a:t>
            </a:r>
            <a:r>
              <a:rPr lang="en-US" sz="2400" dirty="0" err="1"/>
              <a:t>Nkemeni</a:t>
            </a:r>
            <a:r>
              <a:rPr lang="en-US" sz="2400" dirty="0"/>
              <a:t> </a:t>
            </a:r>
          </a:p>
        </p:txBody>
      </p:sp>
      <p:sp>
        <p:nvSpPr>
          <p:cNvPr id="4" name="Subtitle 2">
            <a:extLst>
              <a:ext uri="{FF2B5EF4-FFF2-40B4-BE49-F238E27FC236}">
                <a16:creationId xmlns:a16="http://schemas.microsoft.com/office/drawing/2014/main" id="{0F592794-3750-77BD-869A-0218E8E8660C}"/>
              </a:ext>
            </a:extLst>
          </p:cNvPr>
          <p:cNvSpPr txBox="1">
            <a:spLocks/>
          </p:cNvSpPr>
          <p:nvPr/>
        </p:nvSpPr>
        <p:spPr>
          <a:xfrm>
            <a:off x="6660293" y="3844974"/>
            <a:ext cx="4842730" cy="711657"/>
          </a:xfrm>
          <a:prstGeom prst="rect">
            <a:avLst/>
          </a:prstGeom>
        </p:spPr>
        <p:txBody>
          <a:bodyPr vert="horz" lIns="91440" tIns="45720" rIns="91440" bIns="45720" rtlCol="0" anchor="t">
            <a:norm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r>
              <a:rPr lang="en-US" sz="2800" dirty="0"/>
              <a:t>Group 9 Presentation</a:t>
            </a:r>
          </a:p>
        </p:txBody>
      </p:sp>
      <p:sp>
        <p:nvSpPr>
          <p:cNvPr id="5" name="Subtitle 2">
            <a:extLst>
              <a:ext uri="{FF2B5EF4-FFF2-40B4-BE49-F238E27FC236}">
                <a16:creationId xmlns:a16="http://schemas.microsoft.com/office/drawing/2014/main" id="{7600A6A7-7377-A6D3-7E83-FCA9480F3CF3}"/>
              </a:ext>
            </a:extLst>
          </p:cNvPr>
          <p:cNvSpPr txBox="1">
            <a:spLocks/>
          </p:cNvSpPr>
          <p:nvPr/>
        </p:nvSpPr>
        <p:spPr>
          <a:xfrm>
            <a:off x="365760" y="1895931"/>
            <a:ext cx="11137263" cy="1175372"/>
          </a:xfrm>
          <a:prstGeom prst="rect">
            <a:avLst/>
          </a:prstGeom>
        </p:spPr>
        <p:txBody>
          <a:bodyPr vert="horz" lIns="91440" tIns="45720" rIns="91440" bIns="45720" rtlCol="0" anchor="t">
            <a:norm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r>
              <a:rPr lang="en-US" sz="3200" b="1" dirty="0"/>
              <a:t>Task 1: A Comparative Analysis of Mobile Application Development Methodologies </a:t>
            </a:r>
          </a:p>
        </p:txBody>
      </p:sp>
    </p:spTree>
    <p:extLst>
      <p:ext uri="{BB962C8B-B14F-4D97-AF65-F5344CB8AC3E}">
        <p14:creationId xmlns:p14="http://schemas.microsoft.com/office/powerpoint/2010/main" val="26891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A337-2403-E486-8B96-FAC07060DA2D}"/>
              </a:ext>
            </a:extLst>
          </p:cNvPr>
          <p:cNvSpPr>
            <a:spLocks noGrp="1"/>
          </p:cNvSpPr>
          <p:nvPr>
            <p:ph type="title"/>
          </p:nvPr>
        </p:nvSpPr>
        <p:spPr>
          <a:xfrm>
            <a:off x="1086643" y="451021"/>
            <a:ext cx="10018713" cy="1752599"/>
          </a:xfrm>
        </p:spPr>
        <p:txBody>
          <a:bodyPr/>
          <a:lstStyle/>
          <a:p>
            <a:r>
              <a:rPr lang="en-US" dirty="0"/>
              <a:t>Introduction to mobile applications</a:t>
            </a:r>
          </a:p>
        </p:txBody>
      </p:sp>
      <p:sp>
        <p:nvSpPr>
          <p:cNvPr id="3" name="Content Placeholder 2">
            <a:extLst>
              <a:ext uri="{FF2B5EF4-FFF2-40B4-BE49-F238E27FC236}">
                <a16:creationId xmlns:a16="http://schemas.microsoft.com/office/drawing/2014/main" id="{D13A78FC-8DE5-B465-22E7-0A08913BBF2F}"/>
              </a:ext>
            </a:extLst>
          </p:cNvPr>
          <p:cNvSpPr>
            <a:spLocks noGrp="1"/>
          </p:cNvSpPr>
          <p:nvPr>
            <p:ph idx="1"/>
          </p:nvPr>
        </p:nvSpPr>
        <p:spPr>
          <a:xfrm>
            <a:off x="1484310" y="2203620"/>
            <a:ext cx="10018713" cy="3124201"/>
          </a:xfrm>
        </p:spPr>
        <p:txBody>
          <a:bodyPr>
            <a:normAutofit/>
          </a:bodyPr>
          <a:lstStyle/>
          <a:p>
            <a:pPr marL="0" indent="0">
              <a:lnSpc>
                <a:spcPct val="150000"/>
              </a:lnSpc>
              <a:buNone/>
            </a:pPr>
            <a:r>
              <a:rPr lang="en-US" dirty="0"/>
              <a:t>The rapid growth of smartphones has made mobile applications essential for business, education and health.</a:t>
            </a:r>
          </a:p>
          <a:p>
            <a:pPr marL="0" indent="0">
              <a:lnSpc>
                <a:spcPct val="150000"/>
              </a:lnSpc>
              <a:buNone/>
            </a:pPr>
            <a:r>
              <a:rPr lang="en-US" dirty="0"/>
              <a:t>In this presentation we aim to review mobile app types, Programming languages, frameworks, architectures, requirement engineering and cost estimation.</a:t>
            </a:r>
          </a:p>
        </p:txBody>
      </p:sp>
    </p:spTree>
    <p:extLst>
      <p:ext uri="{BB962C8B-B14F-4D97-AF65-F5344CB8AC3E}">
        <p14:creationId xmlns:p14="http://schemas.microsoft.com/office/powerpoint/2010/main" val="3728716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2A66-7976-9006-9E75-4CCCD73DEF29}"/>
              </a:ext>
            </a:extLst>
          </p:cNvPr>
          <p:cNvSpPr>
            <a:spLocks noGrp="1"/>
          </p:cNvSpPr>
          <p:nvPr>
            <p:ph type="title"/>
          </p:nvPr>
        </p:nvSpPr>
        <p:spPr>
          <a:xfrm>
            <a:off x="1211750" y="545123"/>
            <a:ext cx="10018713" cy="1752599"/>
          </a:xfrm>
        </p:spPr>
        <p:txBody>
          <a:bodyPr/>
          <a:lstStyle/>
          <a:p>
            <a:r>
              <a:rPr lang="en-US" dirty="0"/>
              <a:t>Introduction to Mobile Application</a:t>
            </a:r>
          </a:p>
        </p:txBody>
      </p:sp>
      <p:sp>
        <p:nvSpPr>
          <p:cNvPr id="3" name="Content Placeholder 2">
            <a:extLst>
              <a:ext uri="{FF2B5EF4-FFF2-40B4-BE49-F238E27FC236}">
                <a16:creationId xmlns:a16="http://schemas.microsoft.com/office/drawing/2014/main" id="{50EF8FB8-3897-55F6-6C00-975554BE3CD0}"/>
              </a:ext>
            </a:extLst>
          </p:cNvPr>
          <p:cNvSpPr>
            <a:spLocks noGrp="1"/>
          </p:cNvSpPr>
          <p:nvPr>
            <p:ph idx="1"/>
          </p:nvPr>
        </p:nvSpPr>
        <p:spPr>
          <a:xfrm>
            <a:off x="1352425" y="2700703"/>
            <a:ext cx="10018713" cy="1456594"/>
          </a:xfrm>
        </p:spPr>
        <p:txBody>
          <a:bodyPr/>
          <a:lstStyle/>
          <a:p>
            <a:pPr marL="0" indent="0">
              <a:lnSpc>
                <a:spcPct val="150000"/>
              </a:lnSpc>
              <a:buNone/>
            </a:pPr>
            <a:r>
              <a:rPr lang="en-US" dirty="0"/>
              <a:t>Definition: Mobile apps are software designed to provide specific services on smartphones and tablets.</a:t>
            </a:r>
          </a:p>
          <a:p>
            <a:pPr marL="0" indent="0">
              <a:buNone/>
            </a:pPr>
            <a:endParaRPr lang="en-US" dirty="0"/>
          </a:p>
        </p:txBody>
      </p:sp>
    </p:spTree>
    <p:extLst>
      <p:ext uri="{BB962C8B-B14F-4D97-AF65-F5344CB8AC3E}">
        <p14:creationId xmlns:p14="http://schemas.microsoft.com/office/powerpoint/2010/main" val="3920006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E35D-446D-0C38-15F4-A6BB64E97F51}"/>
              </a:ext>
            </a:extLst>
          </p:cNvPr>
          <p:cNvSpPr>
            <a:spLocks noGrp="1"/>
          </p:cNvSpPr>
          <p:nvPr>
            <p:ph type="title"/>
          </p:nvPr>
        </p:nvSpPr>
        <p:spPr/>
        <p:txBody>
          <a:bodyPr/>
          <a:lstStyle/>
          <a:p>
            <a:r>
              <a:rPr lang="en-US" dirty="0"/>
              <a:t>Types Of Mobile Applications</a:t>
            </a:r>
          </a:p>
        </p:txBody>
      </p:sp>
      <p:sp>
        <p:nvSpPr>
          <p:cNvPr id="3" name="Content Placeholder 2">
            <a:extLst>
              <a:ext uri="{FF2B5EF4-FFF2-40B4-BE49-F238E27FC236}">
                <a16:creationId xmlns:a16="http://schemas.microsoft.com/office/drawing/2014/main" id="{0F343DA7-DBC0-85C1-BB6A-BC7EAAF185B3}"/>
              </a:ext>
            </a:extLst>
          </p:cNvPr>
          <p:cNvSpPr>
            <a:spLocks noGrp="1"/>
          </p:cNvSpPr>
          <p:nvPr>
            <p:ph idx="1"/>
          </p:nvPr>
        </p:nvSpPr>
        <p:spPr/>
        <p:txBody>
          <a:bodyPr>
            <a:normAutofit/>
          </a:bodyPr>
          <a:lstStyle/>
          <a:p>
            <a:pPr marL="0" indent="0">
              <a:lnSpc>
                <a:spcPct val="150000"/>
              </a:lnSpc>
              <a:buNone/>
            </a:pPr>
            <a:r>
              <a:rPr lang="en-US" dirty="0"/>
              <a:t>Mobile applications have been classified into three main categories over time:</a:t>
            </a:r>
          </a:p>
          <a:p>
            <a:pPr>
              <a:lnSpc>
                <a:spcPct val="150000"/>
              </a:lnSpc>
              <a:buFont typeface="Wingdings" panose="05000000000000000000" pitchFamily="2" charset="2"/>
              <a:buChar char="v"/>
            </a:pPr>
            <a:r>
              <a:rPr lang="en-US" b="1" dirty="0"/>
              <a:t>Native Applications</a:t>
            </a:r>
          </a:p>
          <a:p>
            <a:pPr>
              <a:lnSpc>
                <a:spcPct val="150000"/>
              </a:lnSpc>
              <a:buFont typeface="Wingdings" panose="05000000000000000000" pitchFamily="2" charset="2"/>
              <a:buChar char="v"/>
            </a:pPr>
            <a:r>
              <a:rPr lang="en-US" b="1" dirty="0"/>
              <a:t>Progressive Web Applications (PWA)</a:t>
            </a:r>
          </a:p>
          <a:p>
            <a:pPr>
              <a:lnSpc>
                <a:spcPct val="150000"/>
              </a:lnSpc>
              <a:buFont typeface="Wingdings" panose="05000000000000000000" pitchFamily="2" charset="2"/>
              <a:buChar char="v"/>
            </a:pPr>
            <a:r>
              <a:rPr lang="en-US" b="1" dirty="0"/>
              <a:t>Hybrid Applications</a:t>
            </a:r>
          </a:p>
          <a:p>
            <a:endParaRPr lang="en-US" dirty="0"/>
          </a:p>
        </p:txBody>
      </p:sp>
    </p:spTree>
    <p:extLst>
      <p:ext uri="{BB962C8B-B14F-4D97-AF65-F5344CB8AC3E}">
        <p14:creationId xmlns:p14="http://schemas.microsoft.com/office/powerpoint/2010/main" val="3307293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DECD3-92DC-0920-4FA5-1C703FB5A2E5}"/>
              </a:ext>
            </a:extLst>
          </p:cNvPr>
          <p:cNvSpPr>
            <a:spLocks noGrp="1"/>
          </p:cNvSpPr>
          <p:nvPr>
            <p:ph type="title"/>
          </p:nvPr>
        </p:nvSpPr>
        <p:spPr>
          <a:xfrm>
            <a:off x="1484311" y="685800"/>
            <a:ext cx="10018713" cy="1271337"/>
          </a:xfrm>
        </p:spPr>
        <p:txBody>
          <a:bodyPr/>
          <a:lstStyle/>
          <a:p>
            <a:r>
              <a:rPr lang="en-US" b="1" dirty="0"/>
              <a:t>NATIVE APPLICATIONS</a:t>
            </a:r>
          </a:p>
        </p:txBody>
      </p:sp>
      <p:sp>
        <p:nvSpPr>
          <p:cNvPr id="3" name="Content Placeholder 2">
            <a:extLst>
              <a:ext uri="{FF2B5EF4-FFF2-40B4-BE49-F238E27FC236}">
                <a16:creationId xmlns:a16="http://schemas.microsoft.com/office/drawing/2014/main" id="{1D7BAF6F-944C-C7A4-33DA-D1BF55631B31}"/>
              </a:ext>
            </a:extLst>
          </p:cNvPr>
          <p:cNvSpPr>
            <a:spLocks noGrp="1"/>
          </p:cNvSpPr>
          <p:nvPr>
            <p:ph idx="1"/>
          </p:nvPr>
        </p:nvSpPr>
        <p:spPr>
          <a:xfrm>
            <a:off x="1484311" y="4079632"/>
            <a:ext cx="5206635" cy="2180492"/>
          </a:xfrm>
        </p:spPr>
        <p:txBody>
          <a:bodyPr>
            <a:normAutofit/>
          </a:bodyPr>
          <a:lstStyle/>
          <a:p>
            <a:pPr>
              <a:lnSpc>
                <a:spcPct val="110000"/>
              </a:lnSpc>
              <a:buFont typeface="Wingdings" panose="05000000000000000000" pitchFamily="2" charset="2"/>
              <a:buChar char="v"/>
            </a:pPr>
            <a:r>
              <a:rPr lang="en-US" sz="2000" dirty="0"/>
              <a:t>Build using platform specific Languages</a:t>
            </a:r>
          </a:p>
          <a:p>
            <a:pPr>
              <a:lnSpc>
                <a:spcPct val="110000"/>
              </a:lnSpc>
              <a:buFont typeface="Wingdings" panose="05000000000000000000" pitchFamily="2" charset="2"/>
              <a:buChar char="v"/>
            </a:pPr>
            <a:r>
              <a:rPr lang="en-US" sz="2000" dirty="0"/>
              <a:t>Installed through app stores. </a:t>
            </a:r>
          </a:p>
          <a:p>
            <a:pPr marL="0" indent="0">
              <a:buNone/>
            </a:pPr>
            <a:endParaRPr lang="en-US" b="1" dirty="0"/>
          </a:p>
        </p:txBody>
      </p:sp>
      <p:sp>
        <p:nvSpPr>
          <p:cNvPr id="4" name="Content Placeholder 2">
            <a:extLst>
              <a:ext uri="{FF2B5EF4-FFF2-40B4-BE49-F238E27FC236}">
                <a16:creationId xmlns:a16="http://schemas.microsoft.com/office/drawing/2014/main" id="{0B732729-85BD-CFBA-4E87-9FC4966ADBE0}"/>
              </a:ext>
            </a:extLst>
          </p:cNvPr>
          <p:cNvSpPr txBox="1">
            <a:spLocks/>
          </p:cNvSpPr>
          <p:nvPr/>
        </p:nvSpPr>
        <p:spPr>
          <a:xfrm>
            <a:off x="1484311" y="1604594"/>
            <a:ext cx="9223378" cy="234754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nSpc>
                <a:spcPct val="150000"/>
              </a:lnSpc>
              <a:buNone/>
            </a:pPr>
            <a:r>
              <a:rPr lang="en-US" dirty="0"/>
              <a:t>These are applications which are developed specifically for one operating system such as Android or IOS.</a:t>
            </a:r>
          </a:p>
        </p:txBody>
      </p:sp>
      <p:sp>
        <p:nvSpPr>
          <p:cNvPr id="5" name="Content Placeholder 2">
            <a:extLst>
              <a:ext uri="{FF2B5EF4-FFF2-40B4-BE49-F238E27FC236}">
                <a16:creationId xmlns:a16="http://schemas.microsoft.com/office/drawing/2014/main" id="{6EF0D270-C5CD-E8B3-1F3C-CB8A2A95BCC0}"/>
              </a:ext>
            </a:extLst>
          </p:cNvPr>
          <p:cNvSpPr txBox="1">
            <a:spLocks/>
          </p:cNvSpPr>
          <p:nvPr/>
        </p:nvSpPr>
        <p:spPr>
          <a:xfrm>
            <a:off x="6985366" y="4163160"/>
            <a:ext cx="4980966" cy="200904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nSpc>
                <a:spcPct val="110000"/>
              </a:lnSpc>
              <a:buFont typeface="Wingdings" panose="05000000000000000000" pitchFamily="2" charset="2"/>
              <a:buChar char="v"/>
            </a:pPr>
            <a:r>
              <a:rPr lang="en-US" sz="2000" dirty="0"/>
              <a:t>Highly performant.</a:t>
            </a:r>
          </a:p>
          <a:p>
            <a:pPr>
              <a:lnSpc>
                <a:spcPct val="110000"/>
              </a:lnSpc>
              <a:buFont typeface="Wingdings" panose="05000000000000000000" pitchFamily="2" charset="2"/>
              <a:buChar char="v"/>
            </a:pPr>
            <a:r>
              <a:rPr lang="en-US" sz="2000" dirty="0"/>
              <a:t>Full access to device Hardware </a:t>
            </a:r>
          </a:p>
          <a:p>
            <a:pPr>
              <a:buFont typeface="Wingdings" panose="05000000000000000000" pitchFamily="2" charset="2"/>
              <a:buChar char="v"/>
            </a:pPr>
            <a:endParaRPr lang="en-US" b="1" dirty="0"/>
          </a:p>
        </p:txBody>
      </p:sp>
      <p:sp>
        <p:nvSpPr>
          <p:cNvPr id="6" name="Content Placeholder 2">
            <a:extLst>
              <a:ext uri="{FF2B5EF4-FFF2-40B4-BE49-F238E27FC236}">
                <a16:creationId xmlns:a16="http://schemas.microsoft.com/office/drawing/2014/main" id="{E3838E4B-7F1A-E209-8373-1A80798DB069}"/>
              </a:ext>
            </a:extLst>
          </p:cNvPr>
          <p:cNvSpPr txBox="1">
            <a:spLocks/>
          </p:cNvSpPr>
          <p:nvPr/>
        </p:nvSpPr>
        <p:spPr>
          <a:xfrm>
            <a:off x="2099773" y="3761122"/>
            <a:ext cx="2349135" cy="50953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b="1" dirty="0"/>
              <a:t>Characteristics</a:t>
            </a:r>
          </a:p>
        </p:txBody>
      </p:sp>
    </p:spTree>
    <p:extLst>
      <p:ext uri="{BB962C8B-B14F-4D97-AF65-F5344CB8AC3E}">
        <p14:creationId xmlns:p14="http://schemas.microsoft.com/office/powerpoint/2010/main" val="367442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EAF57-B43B-D9F2-9A6E-E18A1A79F0D7}"/>
              </a:ext>
            </a:extLst>
          </p:cNvPr>
          <p:cNvSpPr>
            <a:spLocks noGrp="1"/>
          </p:cNvSpPr>
          <p:nvPr>
            <p:ph type="title"/>
          </p:nvPr>
        </p:nvSpPr>
        <p:spPr>
          <a:xfrm>
            <a:off x="2639827" y="596119"/>
            <a:ext cx="6912344" cy="1175084"/>
          </a:xfrm>
        </p:spPr>
        <p:txBody>
          <a:bodyPr/>
          <a:lstStyle/>
          <a:p>
            <a:r>
              <a:rPr lang="en-US" b="1" dirty="0">
                <a:latin typeface="Aptos" panose="020B0004020202020204" pitchFamily="34" charset="0"/>
                <a:cs typeface="Times New Roman" panose="02020603050405020304" pitchFamily="18" charset="0"/>
              </a:rPr>
              <a:t>NATIVE APPLICATIONS</a:t>
            </a:r>
          </a:p>
        </p:txBody>
      </p:sp>
      <p:sp>
        <p:nvSpPr>
          <p:cNvPr id="3" name="Content Placeholder 2">
            <a:extLst>
              <a:ext uri="{FF2B5EF4-FFF2-40B4-BE49-F238E27FC236}">
                <a16:creationId xmlns:a16="http://schemas.microsoft.com/office/drawing/2014/main" id="{C01FD075-6881-9D53-59D4-1877192A0F9B}"/>
              </a:ext>
            </a:extLst>
          </p:cNvPr>
          <p:cNvSpPr>
            <a:spLocks noGrp="1"/>
          </p:cNvSpPr>
          <p:nvPr>
            <p:ph idx="1"/>
          </p:nvPr>
        </p:nvSpPr>
        <p:spPr>
          <a:xfrm>
            <a:off x="1947679" y="2113671"/>
            <a:ext cx="3642767" cy="223456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Disadvantages:</a:t>
            </a:r>
          </a:p>
          <a:p>
            <a:pPr>
              <a:buFont typeface="Times New Roman" panose="02020603050405020304" pitchFamily="18" charset="0"/>
              <a:buChar char="χ"/>
            </a:pPr>
            <a:r>
              <a:rPr lang="en-US" sz="2000" dirty="0">
                <a:latin typeface="Times New Roman" panose="02020603050405020304" pitchFamily="18" charset="0"/>
                <a:cs typeface="Times New Roman" panose="02020603050405020304" pitchFamily="18" charset="0"/>
              </a:rPr>
              <a:t>Expensive to develop </a:t>
            </a:r>
          </a:p>
          <a:p>
            <a:pPr>
              <a:buFont typeface="Times New Roman" panose="02020603050405020304" pitchFamily="18" charset="0"/>
              <a:buChar char="χ"/>
            </a:pPr>
            <a:r>
              <a:rPr lang="en-US" sz="2000" dirty="0">
                <a:latin typeface="Times New Roman" panose="02020603050405020304" pitchFamily="18" charset="0"/>
                <a:cs typeface="Times New Roman" panose="02020603050405020304" pitchFamily="18" charset="0"/>
              </a:rPr>
              <a:t>Requires separate codebases</a:t>
            </a:r>
          </a:p>
          <a:p>
            <a:pPr>
              <a:buFont typeface="Times New Roman" panose="02020603050405020304" pitchFamily="18" charset="0"/>
              <a:buChar char="χ"/>
            </a:pPr>
            <a:r>
              <a:rPr lang="en-US" sz="2000" dirty="0">
                <a:latin typeface="Times New Roman" panose="02020603050405020304" pitchFamily="18" charset="0"/>
                <a:cs typeface="Times New Roman" panose="02020603050405020304" pitchFamily="18" charset="0"/>
              </a:rPr>
              <a:t>Maintenance cost is high</a:t>
            </a:r>
          </a:p>
        </p:txBody>
      </p:sp>
      <p:sp>
        <p:nvSpPr>
          <p:cNvPr id="4" name="Content Placeholder 2">
            <a:extLst>
              <a:ext uri="{FF2B5EF4-FFF2-40B4-BE49-F238E27FC236}">
                <a16:creationId xmlns:a16="http://schemas.microsoft.com/office/drawing/2014/main" id="{00E7FE03-92F5-F8E2-F610-9D05CB80364F}"/>
              </a:ext>
            </a:extLst>
          </p:cNvPr>
          <p:cNvSpPr txBox="1">
            <a:spLocks/>
          </p:cNvSpPr>
          <p:nvPr/>
        </p:nvSpPr>
        <p:spPr>
          <a:xfrm>
            <a:off x="6970829" y="2078501"/>
            <a:ext cx="3642767" cy="1860885"/>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Very fast performance </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Full device integration </a:t>
            </a:r>
          </a:p>
        </p:txBody>
      </p:sp>
      <p:grpSp>
        <p:nvGrpSpPr>
          <p:cNvPr id="12" name="Group 11">
            <a:extLst>
              <a:ext uri="{FF2B5EF4-FFF2-40B4-BE49-F238E27FC236}">
                <a16:creationId xmlns:a16="http://schemas.microsoft.com/office/drawing/2014/main" id="{DFF11526-7FB8-3D50-5BDE-6E40BB09BC45}"/>
              </a:ext>
            </a:extLst>
          </p:cNvPr>
          <p:cNvGrpSpPr/>
          <p:nvPr/>
        </p:nvGrpSpPr>
        <p:grpSpPr>
          <a:xfrm>
            <a:off x="3149895" y="4290642"/>
            <a:ext cx="5892210" cy="1162773"/>
            <a:chOff x="2935267" y="4674428"/>
            <a:chExt cx="5892210" cy="1162773"/>
          </a:xfrm>
        </p:grpSpPr>
        <p:grpSp>
          <p:nvGrpSpPr>
            <p:cNvPr id="10" name="Group 9">
              <a:extLst>
                <a:ext uri="{FF2B5EF4-FFF2-40B4-BE49-F238E27FC236}">
                  <a16:creationId xmlns:a16="http://schemas.microsoft.com/office/drawing/2014/main" id="{692A59F2-2A42-704A-10B4-D5FEE7F40F92}"/>
                </a:ext>
              </a:extLst>
            </p:cNvPr>
            <p:cNvGrpSpPr/>
            <p:nvPr/>
          </p:nvGrpSpPr>
          <p:grpSpPr>
            <a:xfrm>
              <a:off x="2935267" y="5243720"/>
              <a:ext cx="5892210" cy="593481"/>
              <a:chOff x="2935267" y="5243720"/>
              <a:chExt cx="5892210" cy="593481"/>
            </a:xfrm>
          </p:grpSpPr>
          <p:sp>
            <p:nvSpPr>
              <p:cNvPr id="6" name="Content Placeholder 2">
                <a:extLst>
                  <a:ext uri="{FF2B5EF4-FFF2-40B4-BE49-F238E27FC236}">
                    <a16:creationId xmlns:a16="http://schemas.microsoft.com/office/drawing/2014/main" id="{0C27089E-280D-89FE-8FD4-768353C02D29}"/>
                  </a:ext>
                </a:extLst>
              </p:cNvPr>
              <p:cNvSpPr txBox="1">
                <a:spLocks/>
              </p:cNvSpPr>
              <p:nvPr/>
            </p:nvSpPr>
            <p:spPr>
              <a:xfrm>
                <a:off x="2935267" y="5243720"/>
                <a:ext cx="2832495"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Android –java, Kotlin</a:t>
                </a:r>
              </a:p>
            </p:txBody>
          </p:sp>
          <p:sp>
            <p:nvSpPr>
              <p:cNvPr id="7" name="Content Placeholder 2">
                <a:extLst>
                  <a:ext uri="{FF2B5EF4-FFF2-40B4-BE49-F238E27FC236}">
                    <a16:creationId xmlns:a16="http://schemas.microsoft.com/office/drawing/2014/main" id="{EC27C64C-04D9-1ECC-5EC3-95F762EEAA55}"/>
                  </a:ext>
                </a:extLst>
              </p:cNvPr>
              <p:cNvSpPr txBox="1">
                <a:spLocks/>
              </p:cNvSpPr>
              <p:nvPr/>
            </p:nvSpPr>
            <p:spPr>
              <a:xfrm>
                <a:off x="5767762" y="5243720"/>
                <a:ext cx="3059715" cy="593481"/>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iOS – swift, Objective-C</a:t>
                </a:r>
              </a:p>
            </p:txBody>
          </p:sp>
        </p:grpSp>
        <p:sp>
          <p:nvSpPr>
            <p:cNvPr id="8" name="Content Placeholder 2">
              <a:extLst>
                <a:ext uri="{FF2B5EF4-FFF2-40B4-BE49-F238E27FC236}">
                  <a16:creationId xmlns:a16="http://schemas.microsoft.com/office/drawing/2014/main" id="{29E81BAC-FA1B-959C-E20A-E29E6F7C80BA}"/>
                </a:ext>
              </a:extLst>
            </p:cNvPr>
            <p:cNvSpPr txBox="1">
              <a:spLocks/>
            </p:cNvSpPr>
            <p:nvPr/>
          </p:nvSpPr>
          <p:spPr>
            <a:xfrm>
              <a:off x="5006542" y="4674428"/>
              <a:ext cx="1749659" cy="492372"/>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Technologies</a:t>
              </a:r>
            </a:p>
          </p:txBody>
        </p:sp>
      </p:grpSp>
      <p:grpSp>
        <p:nvGrpSpPr>
          <p:cNvPr id="11" name="Group 10">
            <a:extLst>
              <a:ext uri="{FF2B5EF4-FFF2-40B4-BE49-F238E27FC236}">
                <a16:creationId xmlns:a16="http://schemas.microsoft.com/office/drawing/2014/main" id="{536DF8C2-FB80-AAF9-F829-F7FF7B3D4C9E}"/>
              </a:ext>
            </a:extLst>
          </p:cNvPr>
          <p:cNvGrpSpPr/>
          <p:nvPr/>
        </p:nvGrpSpPr>
        <p:grpSpPr>
          <a:xfrm>
            <a:off x="3573902" y="5795883"/>
            <a:ext cx="5218310" cy="488862"/>
            <a:chOff x="6096000" y="5927767"/>
            <a:chExt cx="5218310" cy="488862"/>
          </a:xfrm>
        </p:grpSpPr>
        <p:sp>
          <p:nvSpPr>
            <p:cNvPr id="5" name="Content Placeholder 2">
              <a:extLst>
                <a:ext uri="{FF2B5EF4-FFF2-40B4-BE49-F238E27FC236}">
                  <a16:creationId xmlns:a16="http://schemas.microsoft.com/office/drawing/2014/main" id="{E78BFD86-E0A6-6C55-8365-78C16AB53681}"/>
                </a:ext>
              </a:extLst>
            </p:cNvPr>
            <p:cNvSpPr txBox="1">
              <a:spLocks/>
            </p:cNvSpPr>
            <p:nvPr/>
          </p:nvSpPr>
          <p:spPr>
            <a:xfrm>
              <a:off x="6096000" y="6018333"/>
              <a:ext cx="1414183" cy="351693"/>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2000" b="1" dirty="0"/>
                <a:t>Examples:</a:t>
              </a:r>
            </a:p>
          </p:txBody>
        </p:sp>
        <p:sp>
          <p:nvSpPr>
            <p:cNvPr id="9" name="Content Placeholder 2">
              <a:extLst>
                <a:ext uri="{FF2B5EF4-FFF2-40B4-BE49-F238E27FC236}">
                  <a16:creationId xmlns:a16="http://schemas.microsoft.com/office/drawing/2014/main" id="{B2D39A0B-2703-5DEE-CC9E-A75EFA8F937F}"/>
                </a:ext>
              </a:extLst>
            </p:cNvPr>
            <p:cNvSpPr txBox="1">
              <a:spLocks/>
            </p:cNvSpPr>
            <p:nvPr/>
          </p:nvSpPr>
          <p:spPr>
            <a:xfrm>
              <a:off x="7510183" y="5927767"/>
              <a:ext cx="3804127" cy="488862"/>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2000" b="1" dirty="0"/>
                <a:t>WhatsApp, Facebook, Instagram</a:t>
              </a:r>
              <a:endParaRPr lang="en-US" sz="2000" dirty="0"/>
            </a:p>
          </p:txBody>
        </p:sp>
      </p:grpSp>
    </p:spTree>
    <p:extLst>
      <p:ext uri="{BB962C8B-B14F-4D97-AF65-F5344CB8AC3E}">
        <p14:creationId xmlns:p14="http://schemas.microsoft.com/office/powerpoint/2010/main" val="419570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C5785-E982-D21E-EE0E-F407855E2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18940-C76E-DFC1-0946-E986FD3708D1}"/>
              </a:ext>
            </a:extLst>
          </p:cNvPr>
          <p:cNvSpPr>
            <a:spLocks noGrp="1"/>
          </p:cNvSpPr>
          <p:nvPr>
            <p:ph type="title"/>
          </p:nvPr>
        </p:nvSpPr>
        <p:spPr>
          <a:xfrm>
            <a:off x="1484311" y="685800"/>
            <a:ext cx="10018713" cy="1271337"/>
          </a:xfrm>
        </p:spPr>
        <p:txBody>
          <a:bodyPr/>
          <a:lstStyle/>
          <a:p>
            <a:r>
              <a:rPr lang="en-US" b="1" dirty="0"/>
              <a:t>Progressive Web Applications (PWA)</a:t>
            </a:r>
          </a:p>
        </p:txBody>
      </p:sp>
      <p:sp>
        <p:nvSpPr>
          <p:cNvPr id="3" name="Content Placeholder 2">
            <a:extLst>
              <a:ext uri="{FF2B5EF4-FFF2-40B4-BE49-F238E27FC236}">
                <a16:creationId xmlns:a16="http://schemas.microsoft.com/office/drawing/2014/main" id="{4453C315-FFAC-DFD5-F712-11F315517FDA}"/>
              </a:ext>
            </a:extLst>
          </p:cNvPr>
          <p:cNvSpPr>
            <a:spLocks noGrp="1"/>
          </p:cNvSpPr>
          <p:nvPr>
            <p:ph idx="1"/>
          </p:nvPr>
        </p:nvSpPr>
        <p:spPr>
          <a:xfrm>
            <a:off x="1317257" y="3950090"/>
            <a:ext cx="4248274" cy="1901548"/>
          </a:xfrm>
        </p:spPr>
        <p:txBody>
          <a:bodyPr>
            <a:normAutofit/>
          </a:bodyPr>
          <a:lstStyle/>
          <a:p>
            <a:pPr>
              <a:lnSpc>
                <a:spcPct val="150000"/>
              </a:lnSpc>
              <a:buFont typeface="Wingdings" panose="05000000000000000000" pitchFamily="2" charset="2"/>
              <a:buChar char="v"/>
            </a:pPr>
            <a:r>
              <a:rPr lang="en-US" sz="2000" dirty="0"/>
              <a:t>Build using web technologies</a:t>
            </a:r>
          </a:p>
          <a:p>
            <a:pPr>
              <a:lnSpc>
                <a:spcPct val="150000"/>
              </a:lnSpc>
              <a:buFont typeface="Wingdings" panose="05000000000000000000" pitchFamily="2" charset="2"/>
              <a:buChar char="v"/>
            </a:pPr>
            <a:r>
              <a:rPr lang="en-US" sz="2000" dirty="0"/>
              <a:t>No installation required </a:t>
            </a:r>
          </a:p>
        </p:txBody>
      </p:sp>
      <p:sp>
        <p:nvSpPr>
          <p:cNvPr id="4" name="Content Placeholder 2">
            <a:extLst>
              <a:ext uri="{FF2B5EF4-FFF2-40B4-BE49-F238E27FC236}">
                <a16:creationId xmlns:a16="http://schemas.microsoft.com/office/drawing/2014/main" id="{C2AAEB07-2714-9EEE-40D8-F9E41DD4156B}"/>
              </a:ext>
            </a:extLst>
          </p:cNvPr>
          <p:cNvSpPr txBox="1">
            <a:spLocks/>
          </p:cNvSpPr>
          <p:nvPr/>
        </p:nvSpPr>
        <p:spPr>
          <a:xfrm>
            <a:off x="1484311" y="1816246"/>
            <a:ext cx="9223378" cy="168372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dirty="0"/>
              <a:t>PWAs are web applications that behave like mobile apps but run in browsers.</a:t>
            </a:r>
          </a:p>
        </p:txBody>
      </p:sp>
      <p:sp>
        <p:nvSpPr>
          <p:cNvPr id="5" name="Content Placeholder 2">
            <a:extLst>
              <a:ext uri="{FF2B5EF4-FFF2-40B4-BE49-F238E27FC236}">
                <a16:creationId xmlns:a16="http://schemas.microsoft.com/office/drawing/2014/main" id="{C587BC5F-D43C-DF96-75C4-225E71C107FA}"/>
              </a:ext>
            </a:extLst>
          </p:cNvPr>
          <p:cNvSpPr txBox="1">
            <a:spLocks/>
          </p:cNvSpPr>
          <p:nvPr/>
        </p:nvSpPr>
        <p:spPr>
          <a:xfrm>
            <a:off x="5745651" y="3950090"/>
            <a:ext cx="2626706" cy="190154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nSpc>
                <a:spcPct val="110000"/>
              </a:lnSpc>
              <a:buFont typeface="Wingdings" panose="05000000000000000000" pitchFamily="2" charset="2"/>
              <a:buChar char="v"/>
            </a:pPr>
            <a:r>
              <a:rPr lang="en-US" sz="2000" dirty="0"/>
              <a:t>Cross Platform</a:t>
            </a:r>
          </a:p>
        </p:txBody>
      </p:sp>
      <p:sp>
        <p:nvSpPr>
          <p:cNvPr id="6" name="Content Placeholder 2">
            <a:extLst>
              <a:ext uri="{FF2B5EF4-FFF2-40B4-BE49-F238E27FC236}">
                <a16:creationId xmlns:a16="http://schemas.microsoft.com/office/drawing/2014/main" id="{79DB5AAB-F00E-3AC5-A052-84A6380916A6}"/>
              </a:ext>
            </a:extLst>
          </p:cNvPr>
          <p:cNvSpPr txBox="1">
            <a:spLocks/>
          </p:cNvSpPr>
          <p:nvPr/>
        </p:nvSpPr>
        <p:spPr>
          <a:xfrm>
            <a:off x="4386081" y="3708956"/>
            <a:ext cx="2358899" cy="482268"/>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b="1" dirty="0"/>
              <a:t>Characteristics</a:t>
            </a:r>
          </a:p>
        </p:txBody>
      </p:sp>
    </p:spTree>
    <p:extLst>
      <p:ext uri="{BB962C8B-B14F-4D97-AF65-F5344CB8AC3E}">
        <p14:creationId xmlns:p14="http://schemas.microsoft.com/office/powerpoint/2010/main" val="949942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DB033-61A3-B90D-A161-80203828B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DA8AF-4901-3A00-A1E6-1138FCDF4F65}"/>
              </a:ext>
            </a:extLst>
          </p:cNvPr>
          <p:cNvSpPr>
            <a:spLocks noGrp="1"/>
          </p:cNvSpPr>
          <p:nvPr>
            <p:ph type="title"/>
          </p:nvPr>
        </p:nvSpPr>
        <p:spPr>
          <a:xfrm>
            <a:off x="2285602" y="596119"/>
            <a:ext cx="7620796" cy="1175084"/>
          </a:xfrm>
        </p:spPr>
        <p:txBody>
          <a:bodyPr>
            <a:normAutofit fontScale="90000"/>
          </a:bodyPr>
          <a:lstStyle/>
          <a:p>
            <a:r>
              <a:rPr lang="en-US" b="1" dirty="0"/>
              <a:t>Progressive Web Applications (PWA)</a:t>
            </a:r>
            <a:endParaRPr lang="en-US" b="1" dirty="0">
              <a:latin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61DB85-9A65-F19E-2841-3F0E0805F6CC}"/>
              </a:ext>
            </a:extLst>
          </p:cNvPr>
          <p:cNvSpPr>
            <a:spLocks noGrp="1"/>
          </p:cNvSpPr>
          <p:nvPr>
            <p:ph idx="1"/>
          </p:nvPr>
        </p:nvSpPr>
        <p:spPr>
          <a:xfrm>
            <a:off x="2121344" y="1923744"/>
            <a:ext cx="3642767" cy="223456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Disadvantages:</a:t>
            </a:r>
          </a:p>
          <a:p>
            <a:pPr>
              <a:buFont typeface="Corbel" panose="020B0503020204020204" pitchFamily="34" charset="0"/>
              <a:buChar char="χ"/>
            </a:pPr>
            <a:r>
              <a:rPr lang="en-US" sz="2000" dirty="0"/>
              <a:t>Limited Hardware access.</a:t>
            </a:r>
          </a:p>
          <a:p>
            <a:pPr>
              <a:buFont typeface="Corbel" panose="020B0503020204020204" pitchFamily="34" charset="0"/>
              <a:buChar char="χ"/>
            </a:pPr>
            <a:r>
              <a:rPr lang="en-US" sz="2000" dirty="0"/>
              <a:t>Lower performance than Native apps</a:t>
            </a:r>
          </a:p>
        </p:txBody>
      </p:sp>
      <p:sp>
        <p:nvSpPr>
          <p:cNvPr id="4" name="Content Placeholder 2">
            <a:extLst>
              <a:ext uri="{FF2B5EF4-FFF2-40B4-BE49-F238E27FC236}">
                <a16:creationId xmlns:a16="http://schemas.microsoft.com/office/drawing/2014/main" id="{07480C1A-8018-0624-872B-23F648ADF538}"/>
              </a:ext>
            </a:extLst>
          </p:cNvPr>
          <p:cNvSpPr txBox="1">
            <a:spLocks/>
          </p:cNvSpPr>
          <p:nvPr/>
        </p:nvSpPr>
        <p:spPr>
          <a:xfrm>
            <a:off x="7102713" y="2300510"/>
            <a:ext cx="3642767" cy="1860885"/>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a:t>Relatively cheaper to develop</a:t>
            </a:r>
          </a:p>
          <a:p>
            <a:pPr>
              <a:buFont typeface="Wingdings" panose="05000000000000000000" pitchFamily="2" charset="2"/>
              <a:buChar char="ü"/>
            </a:pPr>
            <a:r>
              <a:rPr lang="en-US" sz="2000" dirty="0"/>
              <a:t>Fast deployment</a:t>
            </a:r>
          </a:p>
          <a:p>
            <a:pPr>
              <a:buFont typeface="Wingdings" panose="05000000000000000000" pitchFamily="2" charset="2"/>
              <a:buChar char="ü"/>
            </a:pPr>
            <a:r>
              <a:rPr lang="en-US" sz="2000" dirty="0"/>
              <a:t>No app store approval needed.</a:t>
            </a:r>
          </a:p>
        </p:txBody>
      </p:sp>
      <p:grpSp>
        <p:nvGrpSpPr>
          <p:cNvPr id="12" name="Group 11">
            <a:extLst>
              <a:ext uri="{FF2B5EF4-FFF2-40B4-BE49-F238E27FC236}">
                <a16:creationId xmlns:a16="http://schemas.microsoft.com/office/drawing/2014/main" id="{A3EC431C-C336-56A0-CC4C-86C0F66FE330}"/>
              </a:ext>
            </a:extLst>
          </p:cNvPr>
          <p:cNvGrpSpPr/>
          <p:nvPr/>
        </p:nvGrpSpPr>
        <p:grpSpPr>
          <a:xfrm>
            <a:off x="3149895" y="4357899"/>
            <a:ext cx="5877052" cy="1126263"/>
            <a:chOff x="2935267" y="4741685"/>
            <a:chExt cx="3738130" cy="1126263"/>
          </a:xfrm>
        </p:grpSpPr>
        <p:sp>
          <p:nvSpPr>
            <p:cNvPr id="6" name="Content Placeholder 2">
              <a:extLst>
                <a:ext uri="{FF2B5EF4-FFF2-40B4-BE49-F238E27FC236}">
                  <a16:creationId xmlns:a16="http://schemas.microsoft.com/office/drawing/2014/main" id="{1547434A-3D81-8D3C-DECA-30FDEE4927CA}"/>
                </a:ext>
              </a:extLst>
            </p:cNvPr>
            <p:cNvSpPr txBox="1">
              <a:spLocks/>
            </p:cNvSpPr>
            <p:nvPr/>
          </p:nvSpPr>
          <p:spPr>
            <a:xfrm>
              <a:off x="2935267" y="5274467"/>
              <a:ext cx="1008572"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600" dirty="0"/>
                <a:t>HTML</a:t>
              </a:r>
            </a:p>
          </p:txBody>
        </p:sp>
        <p:sp>
          <p:nvSpPr>
            <p:cNvPr id="8" name="Content Placeholder 2">
              <a:extLst>
                <a:ext uri="{FF2B5EF4-FFF2-40B4-BE49-F238E27FC236}">
                  <a16:creationId xmlns:a16="http://schemas.microsoft.com/office/drawing/2014/main" id="{13E7DBC9-030F-4B3F-59A8-9F244E0BAED5}"/>
                </a:ext>
              </a:extLst>
            </p:cNvPr>
            <p:cNvSpPr txBox="1">
              <a:spLocks/>
            </p:cNvSpPr>
            <p:nvPr/>
          </p:nvSpPr>
          <p:spPr>
            <a:xfrm>
              <a:off x="4178999" y="4741685"/>
              <a:ext cx="1749659" cy="492372"/>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Technologies</a:t>
              </a:r>
            </a:p>
          </p:txBody>
        </p:sp>
        <p:sp>
          <p:nvSpPr>
            <p:cNvPr id="13" name="Content Placeholder 2">
              <a:extLst>
                <a:ext uri="{FF2B5EF4-FFF2-40B4-BE49-F238E27FC236}">
                  <a16:creationId xmlns:a16="http://schemas.microsoft.com/office/drawing/2014/main" id="{DF53141E-4B3E-5400-C2FC-FF889C87E8A0}"/>
                </a:ext>
              </a:extLst>
            </p:cNvPr>
            <p:cNvSpPr txBox="1">
              <a:spLocks/>
            </p:cNvSpPr>
            <p:nvPr/>
          </p:nvSpPr>
          <p:spPr>
            <a:xfrm>
              <a:off x="4303290" y="5273388"/>
              <a:ext cx="779285"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600" dirty="0"/>
                <a:t>CSS</a:t>
              </a:r>
            </a:p>
          </p:txBody>
        </p:sp>
        <p:sp>
          <p:nvSpPr>
            <p:cNvPr id="14" name="Content Placeholder 2">
              <a:extLst>
                <a:ext uri="{FF2B5EF4-FFF2-40B4-BE49-F238E27FC236}">
                  <a16:creationId xmlns:a16="http://schemas.microsoft.com/office/drawing/2014/main" id="{6FD2D53C-F12B-52B8-297D-AAD72FE9A625}"/>
                </a:ext>
              </a:extLst>
            </p:cNvPr>
            <p:cNvSpPr txBox="1">
              <a:spLocks/>
            </p:cNvSpPr>
            <p:nvPr/>
          </p:nvSpPr>
          <p:spPr>
            <a:xfrm>
              <a:off x="5365592" y="5273388"/>
              <a:ext cx="1307805"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800" dirty="0"/>
                <a:t>JavaScript</a:t>
              </a:r>
            </a:p>
          </p:txBody>
        </p:sp>
      </p:grpSp>
      <p:grpSp>
        <p:nvGrpSpPr>
          <p:cNvPr id="11" name="Group 10">
            <a:extLst>
              <a:ext uri="{FF2B5EF4-FFF2-40B4-BE49-F238E27FC236}">
                <a16:creationId xmlns:a16="http://schemas.microsoft.com/office/drawing/2014/main" id="{94E24CF3-2755-C30B-1848-0602158B5E06}"/>
              </a:ext>
            </a:extLst>
          </p:cNvPr>
          <p:cNvGrpSpPr/>
          <p:nvPr/>
        </p:nvGrpSpPr>
        <p:grpSpPr>
          <a:xfrm>
            <a:off x="2906503" y="5773019"/>
            <a:ext cx="6378991" cy="488862"/>
            <a:chOff x="6096000" y="5927767"/>
            <a:chExt cx="4698657" cy="488862"/>
          </a:xfrm>
        </p:grpSpPr>
        <p:sp>
          <p:nvSpPr>
            <p:cNvPr id="5" name="Content Placeholder 2">
              <a:extLst>
                <a:ext uri="{FF2B5EF4-FFF2-40B4-BE49-F238E27FC236}">
                  <a16:creationId xmlns:a16="http://schemas.microsoft.com/office/drawing/2014/main" id="{25BB665E-2978-C365-9549-C8A8ECF7FF35}"/>
                </a:ext>
              </a:extLst>
            </p:cNvPr>
            <p:cNvSpPr txBox="1">
              <a:spLocks/>
            </p:cNvSpPr>
            <p:nvPr/>
          </p:nvSpPr>
          <p:spPr>
            <a:xfrm>
              <a:off x="6096000" y="6018333"/>
              <a:ext cx="1115691" cy="351693"/>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2000" b="1" dirty="0"/>
                <a:t>Examples:</a:t>
              </a:r>
            </a:p>
          </p:txBody>
        </p:sp>
        <p:sp>
          <p:nvSpPr>
            <p:cNvPr id="9" name="Content Placeholder 2">
              <a:extLst>
                <a:ext uri="{FF2B5EF4-FFF2-40B4-BE49-F238E27FC236}">
                  <a16:creationId xmlns:a16="http://schemas.microsoft.com/office/drawing/2014/main" id="{F44757E7-8613-BFCB-3044-64108555565E}"/>
                </a:ext>
              </a:extLst>
            </p:cNvPr>
            <p:cNvSpPr txBox="1">
              <a:spLocks/>
            </p:cNvSpPr>
            <p:nvPr/>
          </p:nvSpPr>
          <p:spPr>
            <a:xfrm>
              <a:off x="6977677" y="5927767"/>
              <a:ext cx="3816980" cy="488862"/>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2000" dirty="0"/>
                <a:t>Twitter Lite, Starbucks PWA, Pinterest PWA</a:t>
              </a:r>
            </a:p>
          </p:txBody>
        </p:sp>
      </p:grpSp>
    </p:spTree>
    <p:extLst>
      <p:ext uri="{BB962C8B-B14F-4D97-AF65-F5344CB8AC3E}">
        <p14:creationId xmlns:p14="http://schemas.microsoft.com/office/powerpoint/2010/main" val="2127719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014DA-596A-2FD0-8E4F-223F938EF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50F68-099A-44BC-E054-BD70F709E91B}"/>
              </a:ext>
            </a:extLst>
          </p:cNvPr>
          <p:cNvSpPr>
            <a:spLocks noGrp="1"/>
          </p:cNvSpPr>
          <p:nvPr>
            <p:ph type="title"/>
          </p:nvPr>
        </p:nvSpPr>
        <p:spPr>
          <a:xfrm>
            <a:off x="1484311" y="685800"/>
            <a:ext cx="10018713" cy="1271337"/>
          </a:xfrm>
        </p:spPr>
        <p:txBody>
          <a:bodyPr/>
          <a:lstStyle/>
          <a:p>
            <a:r>
              <a:rPr lang="en-US" b="1" dirty="0"/>
              <a:t>Hybrid Applications</a:t>
            </a:r>
          </a:p>
        </p:txBody>
      </p:sp>
      <p:sp>
        <p:nvSpPr>
          <p:cNvPr id="3" name="Content Placeholder 2">
            <a:extLst>
              <a:ext uri="{FF2B5EF4-FFF2-40B4-BE49-F238E27FC236}">
                <a16:creationId xmlns:a16="http://schemas.microsoft.com/office/drawing/2014/main" id="{4AFB1AE2-E87E-D0D4-4B8A-8F5F7032391D}"/>
              </a:ext>
            </a:extLst>
          </p:cNvPr>
          <p:cNvSpPr>
            <a:spLocks noGrp="1"/>
          </p:cNvSpPr>
          <p:nvPr>
            <p:ph idx="1"/>
          </p:nvPr>
        </p:nvSpPr>
        <p:spPr>
          <a:xfrm>
            <a:off x="1317256" y="4074889"/>
            <a:ext cx="4248274" cy="1451433"/>
          </a:xfrm>
        </p:spPr>
        <p:txBody>
          <a:bodyPr>
            <a:normAutofit/>
          </a:bodyPr>
          <a:lstStyle/>
          <a:p>
            <a:pPr>
              <a:buFont typeface="Wingdings" panose="05000000000000000000" pitchFamily="2" charset="2"/>
              <a:buChar char="v"/>
            </a:pPr>
            <a:r>
              <a:rPr lang="en-US" sz="2000" dirty="0"/>
              <a:t>Single Codebase.</a:t>
            </a:r>
          </a:p>
          <a:p>
            <a:pPr>
              <a:buFont typeface="Wingdings" panose="05000000000000000000" pitchFamily="2" charset="2"/>
              <a:buChar char="v"/>
            </a:pPr>
            <a:r>
              <a:rPr lang="en-US" sz="2000" dirty="0"/>
              <a:t>Run on multiple platforms.</a:t>
            </a:r>
          </a:p>
        </p:txBody>
      </p:sp>
      <p:sp>
        <p:nvSpPr>
          <p:cNvPr id="4" name="Content Placeholder 2">
            <a:extLst>
              <a:ext uri="{FF2B5EF4-FFF2-40B4-BE49-F238E27FC236}">
                <a16:creationId xmlns:a16="http://schemas.microsoft.com/office/drawing/2014/main" id="{11356369-CFE3-BAC0-D526-0A0C38AA7883}"/>
              </a:ext>
            </a:extLst>
          </p:cNvPr>
          <p:cNvSpPr txBox="1">
            <a:spLocks/>
          </p:cNvSpPr>
          <p:nvPr/>
        </p:nvSpPr>
        <p:spPr>
          <a:xfrm>
            <a:off x="1484311" y="1816246"/>
            <a:ext cx="9223378" cy="168372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dirty="0"/>
              <a:t>These apps combine native and web technologies.</a:t>
            </a:r>
          </a:p>
        </p:txBody>
      </p:sp>
      <p:sp>
        <p:nvSpPr>
          <p:cNvPr id="5" name="Content Placeholder 2">
            <a:extLst>
              <a:ext uri="{FF2B5EF4-FFF2-40B4-BE49-F238E27FC236}">
                <a16:creationId xmlns:a16="http://schemas.microsoft.com/office/drawing/2014/main" id="{91F534D8-B05F-BBA2-CA7D-9204BC4D4285}"/>
              </a:ext>
            </a:extLst>
          </p:cNvPr>
          <p:cNvSpPr txBox="1">
            <a:spLocks/>
          </p:cNvSpPr>
          <p:nvPr/>
        </p:nvSpPr>
        <p:spPr>
          <a:xfrm>
            <a:off x="5701689" y="4074889"/>
            <a:ext cx="4418257" cy="1451434"/>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v"/>
            </a:pPr>
            <a:r>
              <a:rPr lang="en-US" sz="2000" dirty="0"/>
              <a:t>Uses web technologies inside native Container.</a:t>
            </a:r>
          </a:p>
        </p:txBody>
      </p:sp>
      <p:sp>
        <p:nvSpPr>
          <p:cNvPr id="6" name="Content Placeholder 2">
            <a:extLst>
              <a:ext uri="{FF2B5EF4-FFF2-40B4-BE49-F238E27FC236}">
                <a16:creationId xmlns:a16="http://schemas.microsoft.com/office/drawing/2014/main" id="{059DCD58-06BE-9D5D-2B7C-3F72803425D2}"/>
              </a:ext>
            </a:extLst>
          </p:cNvPr>
          <p:cNvSpPr txBox="1">
            <a:spLocks/>
          </p:cNvSpPr>
          <p:nvPr/>
        </p:nvSpPr>
        <p:spPr>
          <a:xfrm>
            <a:off x="4386081" y="3708956"/>
            <a:ext cx="2358899" cy="482268"/>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b="1" dirty="0"/>
              <a:t>Characteristics</a:t>
            </a:r>
          </a:p>
        </p:txBody>
      </p:sp>
    </p:spTree>
    <p:extLst>
      <p:ext uri="{BB962C8B-B14F-4D97-AF65-F5344CB8AC3E}">
        <p14:creationId xmlns:p14="http://schemas.microsoft.com/office/powerpoint/2010/main" val="169221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A4E3-EB46-5397-8874-24636150C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3029D-34DA-4AEB-C4BC-C404A52F9AD9}"/>
              </a:ext>
            </a:extLst>
          </p:cNvPr>
          <p:cNvSpPr>
            <a:spLocks noGrp="1"/>
          </p:cNvSpPr>
          <p:nvPr>
            <p:ph type="title"/>
          </p:nvPr>
        </p:nvSpPr>
        <p:spPr>
          <a:xfrm>
            <a:off x="2285602" y="596119"/>
            <a:ext cx="7620796" cy="1175084"/>
          </a:xfrm>
        </p:spPr>
        <p:txBody>
          <a:bodyPr>
            <a:normAutofit/>
          </a:bodyPr>
          <a:lstStyle/>
          <a:p>
            <a:r>
              <a:rPr lang="en-US" b="1" dirty="0"/>
              <a:t>Hybrid Applications </a:t>
            </a:r>
            <a:endParaRPr lang="en-US" b="1" dirty="0">
              <a:latin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7E96BE-B45A-236E-2B9E-BE35AB533B58}"/>
              </a:ext>
            </a:extLst>
          </p:cNvPr>
          <p:cNvSpPr>
            <a:spLocks noGrp="1"/>
          </p:cNvSpPr>
          <p:nvPr>
            <p:ph idx="1"/>
          </p:nvPr>
        </p:nvSpPr>
        <p:spPr>
          <a:xfrm>
            <a:off x="2121344" y="1923744"/>
            <a:ext cx="3642767" cy="223456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Disadvantages:</a:t>
            </a:r>
          </a:p>
          <a:p>
            <a:pPr>
              <a:buFont typeface="Corbel" panose="020B0503020204020204" pitchFamily="34" charset="0"/>
              <a:buChar char="χ"/>
            </a:pPr>
            <a:r>
              <a:rPr lang="en-US" sz="2000" dirty="0"/>
              <a:t>Slightly lower performance than natives </a:t>
            </a:r>
          </a:p>
          <a:p>
            <a:pPr>
              <a:buFont typeface="Corbel" panose="020B0503020204020204" pitchFamily="34" charset="0"/>
              <a:buChar char="χ"/>
            </a:pPr>
            <a:r>
              <a:rPr lang="en-US" sz="2000" dirty="0"/>
              <a:t>Sometimes UI not fully native</a:t>
            </a:r>
          </a:p>
          <a:p>
            <a:pPr>
              <a:buFont typeface="Corbel" panose="020B0503020204020204" pitchFamily="34" charset="0"/>
              <a:buChar char="χ"/>
            </a:pPr>
            <a:r>
              <a:rPr lang="en-US" sz="2000" dirty="0"/>
              <a:t>Debugging can be complex</a:t>
            </a:r>
          </a:p>
        </p:txBody>
      </p:sp>
      <p:sp>
        <p:nvSpPr>
          <p:cNvPr id="4" name="Content Placeholder 2">
            <a:extLst>
              <a:ext uri="{FF2B5EF4-FFF2-40B4-BE49-F238E27FC236}">
                <a16:creationId xmlns:a16="http://schemas.microsoft.com/office/drawing/2014/main" id="{F1305B88-4910-582C-DC26-5179C81CE40F}"/>
              </a:ext>
            </a:extLst>
          </p:cNvPr>
          <p:cNvSpPr txBox="1">
            <a:spLocks/>
          </p:cNvSpPr>
          <p:nvPr/>
        </p:nvSpPr>
        <p:spPr>
          <a:xfrm>
            <a:off x="7102713" y="2300510"/>
            <a:ext cx="3642767" cy="1860885"/>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a:t>Relatively lower cost </a:t>
            </a:r>
          </a:p>
          <a:p>
            <a:pPr>
              <a:buFont typeface="Wingdings" panose="05000000000000000000" pitchFamily="2" charset="2"/>
              <a:buChar char="ü"/>
            </a:pPr>
            <a:r>
              <a:rPr lang="en-US" sz="2000" dirty="0"/>
              <a:t>Faster development</a:t>
            </a:r>
          </a:p>
          <a:p>
            <a:pPr>
              <a:buFont typeface="Wingdings" panose="05000000000000000000" pitchFamily="2" charset="2"/>
              <a:buChar char="ü"/>
            </a:pPr>
            <a:r>
              <a:rPr lang="en-US" sz="2000" dirty="0"/>
              <a:t>Cross platform Support</a:t>
            </a:r>
          </a:p>
        </p:txBody>
      </p:sp>
      <p:grpSp>
        <p:nvGrpSpPr>
          <p:cNvPr id="12" name="Group 11">
            <a:extLst>
              <a:ext uri="{FF2B5EF4-FFF2-40B4-BE49-F238E27FC236}">
                <a16:creationId xmlns:a16="http://schemas.microsoft.com/office/drawing/2014/main" id="{DD697367-F8EB-AB59-1B75-4894DBA5C7E6}"/>
              </a:ext>
            </a:extLst>
          </p:cNvPr>
          <p:cNvGrpSpPr/>
          <p:nvPr/>
        </p:nvGrpSpPr>
        <p:grpSpPr>
          <a:xfrm>
            <a:off x="3149895" y="4357899"/>
            <a:ext cx="5526746" cy="1126263"/>
            <a:chOff x="2935267" y="4741685"/>
            <a:chExt cx="3515316" cy="1126263"/>
          </a:xfrm>
        </p:grpSpPr>
        <p:sp>
          <p:nvSpPr>
            <p:cNvPr id="6" name="Content Placeholder 2">
              <a:extLst>
                <a:ext uri="{FF2B5EF4-FFF2-40B4-BE49-F238E27FC236}">
                  <a16:creationId xmlns:a16="http://schemas.microsoft.com/office/drawing/2014/main" id="{4367565C-9BCF-ABE7-B214-B34285FCD8A5}"/>
                </a:ext>
              </a:extLst>
            </p:cNvPr>
            <p:cNvSpPr txBox="1">
              <a:spLocks/>
            </p:cNvSpPr>
            <p:nvPr/>
          </p:nvSpPr>
          <p:spPr>
            <a:xfrm>
              <a:off x="2935267" y="5274467"/>
              <a:ext cx="1008572"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600" dirty="0"/>
                <a:t>Flutter </a:t>
              </a:r>
            </a:p>
          </p:txBody>
        </p:sp>
        <p:sp>
          <p:nvSpPr>
            <p:cNvPr id="8" name="Content Placeholder 2">
              <a:extLst>
                <a:ext uri="{FF2B5EF4-FFF2-40B4-BE49-F238E27FC236}">
                  <a16:creationId xmlns:a16="http://schemas.microsoft.com/office/drawing/2014/main" id="{DB7BBF48-63E3-C84B-371B-22ED6DF37274}"/>
                </a:ext>
              </a:extLst>
            </p:cNvPr>
            <p:cNvSpPr txBox="1">
              <a:spLocks/>
            </p:cNvSpPr>
            <p:nvPr/>
          </p:nvSpPr>
          <p:spPr>
            <a:xfrm>
              <a:off x="4178999" y="4741685"/>
              <a:ext cx="1749659" cy="492372"/>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Technologies</a:t>
              </a:r>
            </a:p>
          </p:txBody>
        </p:sp>
        <p:sp>
          <p:nvSpPr>
            <p:cNvPr id="13" name="Content Placeholder 2">
              <a:extLst>
                <a:ext uri="{FF2B5EF4-FFF2-40B4-BE49-F238E27FC236}">
                  <a16:creationId xmlns:a16="http://schemas.microsoft.com/office/drawing/2014/main" id="{C5DC95A4-BC23-4691-B221-86AC82A8F927}"/>
                </a:ext>
              </a:extLst>
            </p:cNvPr>
            <p:cNvSpPr txBox="1">
              <a:spLocks/>
            </p:cNvSpPr>
            <p:nvPr/>
          </p:nvSpPr>
          <p:spPr>
            <a:xfrm>
              <a:off x="4085347" y="5273387"/>
              <a:ext cx="1138736"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600" dirty="0"/>
                <a:t>React Native</a:t>
              </a:r>
            </a:p>
          </p:txBody>
        </p:sp>
        <p:sp>
          <p:nvSpPr>
            <p:cNvPr id="14" name="Content Placeholder 2">
              <a:extLst>
                <a:ext uri="{FF2B5EF4-FFF2-40B4-BE49-F238E27FC236}">
                  <a16:creationId xmlns:a16="http://schemas.microsoft.com/office/drawing/2014/main" id="{6EC80593-AD52-00D2-0388-867C81D92ADC}"/>
                </a:ext>
              </a:extLst>
            </p:cNvPr>
            <p:cNvSpPr txBox="1">
              <a:spLocks/>
            </p:cNvSpPr>
            <p:nvPr/>
          </p:nvSpPr>
          <p:spPr>
            <a:xfrm>
              <a:off x="5365592" y="5273388"/>
              <a:ext cx="1084991" cy="5934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Font typeface="Wingdings" panose="05000000000000000000" pitchFamily="2" charset="2"/>
                <a:buChar char="Ø"/>
              </a:pPr>
              <a:r>
                <a:rPr lang="en-US" sz="1800" dirty="0"/>
                <a:t>Ionic</a:t>
              </a:r>
            </a:p>
          </p:txBody>
        </p:sp>
      </p:grpSp>
      <p:grpSp>
        <p:nvGrpSpPr>
          <p:cNvPr id="11" name="Group 10">
            <a:extLst>
              <a:ext uri="{FF2B5EF4-FFF2-40B4-BE49-F238E27FC236}">
                <a16:creationId xmlns:a16="http://schemas.microsoft.com/office/drawing/2014/main" id="{1C15FAD8-184F-486B-B2DC-41B25060135F}"/>
              </a:ext>
            </a:extLst>
          </p:cNvPr>
          <p:cNvGrpSpPr/>
          <p:nvPr/>
        </p:nvGrpSpPr>
        <p:grpSpPr>
          <a:xfrm>
            <a:off x="3719304" y="5722427"/>
            <a:ext cx="5770137" cy="488862"/>
            <a:chOff x="6096000" y="5927767"/>
            <a:chExt cx="4698657" cy="488862"/>
          </a:xfrm>
        </p:grpSpPr>
        <p:sp>
          <p:nvSpPr>
            <p:cNvPr id="5" name="Content Placeholder 2">
              <a:extLst>
                <a:ext uri="{FF2B5EF4-FFF2-40B4-BE49-F238E27FC236}">
                  <a16:creationId xmlns:a16="http://schemas.microsoft.com/office/drawing/2014/main" id="{C36C001E-1C29-9681-6FD7-6E794B1F207E}"/>
                </a:ext>
              </a:extLst>
            </p:cNvPr>
            <p:cNvSpPr txBox="1">
              <a:spLocks/>
            </p:cNvSpPr>
            <p:nvPr/>
          </p:nvSpPr>
          <p:spPr>
            <a:xfrm>
              <a:off x="6096000" y="6018333"/>
              <a:ext cx="1115691" cy="351693"/>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2000" b="1" dirty="0"/>
                <a:t>Examples:</a:t>
              </a:r>
            </a:p>
          </p:txBody>
        </p:sp>
        <p:sp>
          <p:nvSpPr>
            <p:cNvPr id="9" name="Content Placeholder 2">
              <a:extLst>
                <a:ext uri="{FF2B5EF4-FFF2-40B4-BE49-F238E27FC236}">
                  <a16:creationId xmlns:a16="http://schemas.microsoft.com/office/drawing/2014/main" id="{BD3DFEAE-670A-CD4C-4994-2778289EC317}"/>
                </a:ext>
              </a:extLst>
            </p:cNvPr>
            <p:cNvSpPr txBox="1">
              <a:spLocks/>
            </p:cNvSpPr>
            <p:nvPr/>
          </p:nvSpPr>
          <p:spPr>
            <a:xfrm>
              <a:off x="6977677" y="5927767"/>
              <a:ext cx="3816980" cy="488862"/>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dirty="0"/>
                <a:t>Uber Eats, Discord, Skype</a:t>
              </a:r>
            </a:p>
          </p:txBody>
        </p:sp>
      </p:grpSp>
    </p:spTree>
    <p:extLst>
      <p:ext uri="{BB962C8B-B14F-4D97-AF65-F5344CB8AC3E}">
        <p14:creationId xmlns:p14="http://schemas.microsoft.com/office/powerpoint/2010/main" val="358942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6CC3-0D22-372D-5A20-AA6A61A443F6}"/>
              </a:ext>
            </a:extLst>
          </p:cNvPr>
          <p:cNvSpPr>
            <a:spLocks noGrp="1"/>
          </p:cNvSpPr>
          <p:nvPr>
            <p:ph type="title"/>
          </p:nvPr>
        </p:nvSpPr>
        <p:spPr>
          <a:xfrm>
            <a:off x="1484311" y="685800"/>
            <a:ext cx="10018713" cy="757989"/>
          </a:xfrm>
        </p:spPr>
        <p:txBody>
          <a:bodyPr/>
          <a:lstStyle/>
          <a:p>
            <a:r>
              <a:rPr lang="en-US" b="1" dirty="0"/>
              <a:t>Mobile App Programming Language</a:t>
            </a:r>
          </a:p>
        </p:txBody>
      </p:sp>
      <p:sp>
        <p:nvSpPr>
          <p:cNvPr id="3" name="Content Placeholder 2">
            <a:extLst>
              <a:ext uri="{FF2B5EF4-FFF2-40B4-BE49-F238E27FC236}">
                <a16:creationId xmlns:a16="http://schemas.microsoft.com/office/drawing/2014/main" id="{5D72572F-8503-7893-222D-37FF82317B18}"/>
              </a:ext>
            </a:extLst>
          </p:cNvPr>
          <p:cNvSpPr>
            <a:spLocks noGrp="1"/>
          </p:cNvSpPr>
          <p:nvPr>
            <p:ph idx="1"/>
          </p:nvPr>
        </p:nvSpPr>
        <p:spPr>
          <a:xfrm>
            <a:off x="1484310" y="1732547"/>
            <a:ext cx="10018713" cy="4058653"/>
          </a:xfrm>
        </p:spPr>
        <p:txBody>
          <a:bodyPr/>
          <a:lstStyle/>
          <a:p>
            <a:pPr marL="0" indent="0">
              <a:buNone/>
            </a:pPr>
            <a:r>
              <a:rPr lang="en-US" dirty="0"/>
              <a:t>It is a programming language used to develop mobile applications. These languages provide the instructions that define how the application behaves, how it interacts with users, and how it communicates with device hardware.</a:t>
            </a:r>
          </a:p>
          <a:p>
            <a:pPr marL="0" indent="0">
              <a:buNone/>
            </a:pPr>
            <a:r>
              <a:rPr lang="en-US" dirty="0"/>
              <a:t>Some examples are: Java, </a:t>
            </a:r>
            <a:r>
              <a:rPr lang="en-US" dirty="0" err="1"/>
              <a:t>Klotin</a:t>
            </a:r>
            <a:r>
              <a:rPr lang="en-US" dirty="0"/>
              <a:t>, swift, </a:t>
            </a:r>
            <a:r>
              <a:rPr lang="en-US" dirty="0" err="1"/>
              <a:t>Javascript</a:t>
            </a:r>
            <a:r>
              <a:rPr lang="en-US" dirty="0"/>
              <a:t>, Dart.</a:t>
            </a:r>
          </a:p>
          <a:p>
            <a:pPr marL="0" indent="0">
              <a:buNone/>
            </a:pPr>
            <a:r>
              <a:rPr lang="en-US" dirty="0"/>
              <a:t>Each language having their prose and cone and preferable conditions for use in mobile app development.</a:t>
            </a:r>
          </a:p>
          <a:p>
            <a:pPr marL="0" indent="0">
              <a:buNone/>
            </a:pPr>
            <a:endParaRPr lang="en-US" dirty="0"/>
          </a:p>
        </p:txBody>
      </p:sp>
    </p:spTree>
    <p:extLst>
      <p:ext uri="{BB962C8B-B14F-4D97-AF65-F5344CB8AC3E}">
        <p14:creationId xmlns:p14="http://schemas.microsoft.com/office/powerpoint/2010/main" val="3247319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3C37-22A0-F52A-D500-892EF126FDC0}"/>
              </a:ext>
            </a:extLst>
          </p:cNvPr>
          <p:cNvSpPr>
            <a:spLocks noGrp="1"/>
          </p:cNvSpPr>
          <p:nvPr>
            <p:ph type="title"/>
          </p:nvPr>
        </p:nvSpPr>
        <p:spPr>
          <a:xfrm>
            <a:off x="1484311" y="685801"/>
            <a:ext cx="10018713" cy="1191126"/>
          </a:xfrm>
        </p:spPr>
        <p:txBody>
          <a:bodyPr/>
          <a:lstStyle/>
          <a:p>
            <a:r>
              <a:rPr lang="en-US" b="1" dirty="0"/>
              <a:t>Mobile Development Frameworks</a:t>
            </a:r>
          </a:p>
        </p:txBody>
      </p:sp>
      <p:sp>
        <p:nvSpPr>
          <p:cNvPr id="3" name="Content Placeholder 2">
            <a:extLst>
              <a:ext uri="{FF2B5EF4-FFF2-40B4-BE49-F238E27FC236}">
                <a16:creationId xmlns:a16="http://schemas.microsoft.com/office/drawing/2014/main" id="{8266FDF9-FFD9-F522-B417-6CAA7DA31143}"/>
              </a:ext>
            </a:extLst>
          </p:cNvPr>
          <p:cNvSpPr>
            <a:spLocks noGrp="1"/>
          </p:cNvSpPr>
          <p:nvPr>
            <p:ph idx="1"/>
          </p:nvPr>
        </p:nvSpPr>
        <p:spPr>
          <a:xfrm>
            <a:off x="1494470" y="1887087"/>
            <a:ext cx="10018713" cy="4347411"/>
          </a:xfrm>
        </p:spPr>
        <p:txBody>
          <a:bodyPr>
            <a:normAutofit lnSpcReduction="10000"/>
          </a:bodyPr>
          <a:lstStyle/>
          <a:p>
            <a:pPr marL="0" indent="0">
              <a:buNone/>
            </a:pPr>
            <a:r>
              <a:rPr lang="en-US" dirty="0"/>
              <a:t>It is a software platform that provides tools, libraries, APIs, and pre-written code to simplify mobile application development.</a:t>
            </a:r>
          </a:p>
          <a:p>
            <a:pPr marL="0" indent="0">
              <a:buNone/>
            </a:pPr>
            <a:r>
              <a:rPr lang="en-US" dirty="0"/>
              <a:t>Frameworks simplify development by helping developers:</a:t>
            </a:r>
          </a:p>
          <a:p>
            <a:r>
              <a:rPr lang="en-US" dirty="0"/>
              <a:t>Reduce development time</a:t>
            </a:r>
          </a:p>
          <a:p>
            <a:r>
              <a:rPr lang="en-US" dirty="0"/>
              <a:t>Reuse code</a:t>
            </a:r>
          </a:p>
          <a:p>
            <a:r>
              <a:rPr lang="en-US" dirty="0"/>
              <a:t>Improve performance</a:t>
            </a:r>
          </a:p>
          <a:p>
            <a:r>
              <a:rPr lang="en-US" dirty="0"/>
              <a:t>Simplify UI design</a:t>
            </a:r>
          </a:p>
          <a:p>
            <a:pPr marL="0" indent="0">
              <a:buNone/>
            </a:pPr>
            <a:r>
              <a:rPr lang="en-US" dirty="0"/>
              <a:t>Some of this examples are:</a:t>
            </a:r>
          </a:p>
          <a:p>
            <a:pPr marL="0" indent="0">
              <a:buNone/>
            </a:pPr>
            <a:r>
              <a:rPr lang="en-US" dirty="0"/>
              <a:t>Flutter, React Native, Xamarin, Ionic.</a:t>
            </a:r>
          </a:p>
        </p:txBody>
      </p:sp>
    </p:spTree>
    <p:extLst>
      <p:ext uri="{BB962C8B-B14F-4D97-AF65-F5344CB8AC3E}">
        <p14:creationId xmlns:p14="http://schemas.microsoft.com/office/powerpoint/2010/main" val="3873963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3528F-D6E8-3ECF-6C20-FAE0D2EA7B1B}"/>
              </a:ext>
            </a:extLst>
          </p:cNvPr>
          <p:cNvSpPr>
            <a:spLocks noGrp="1"/>
          </p:cNvSpPr>
          <p:nvPr>
            <p:ph type="title"/>
          </p:nvPr>
        </p:nvSpPr>
        <p:spPr>
          <a:xfrm>
            <a:off x="513347" y="685801"/>
            <a:ext cx="10989677" cy="966536"/>
          </a:xfrm>
        </p:spPr>
        <p:txBody>
          <a:bodyPr>
            <a:normAutofit fontScale="90000"/>
          </a:bodyPr>
          <a:lstStyle/>
          <a:p>
            <a:r>
              <a:rPr lang="en-US" b="1" dirty="0"/>
              <a:t>Mobile Application Architectures and Design Patterns</a:t>
            </a:r>
            <a:br>
              <a:rPr lang="en-US" b="1" dirty="0"/>
            </a:br>
            <a:endParaRPr lang="en-US" dirty="0"/>
          </a:p>
        </p:txBody>
      </p:sp>
      <p:sp>
        <p:nvSpPr>
          <p:cNvPr id="3" name="Content Placeholder 2">
            <a:extLst>
              <a:ext uri="{FF2B5EF4-FFF2-40B4-BE49-F238E27FC236}">
                <a16:creationId xmlns:a16="http://schemas.microsoft.com/office/drawing/2014/main" id="{F461C5DC-9B54-72E5-FECF-95E8F2845357}"/>
              </a:ext>
            </a:extLst>
          </p:cNvPr>
          <p:cNvSpPr>
            <a:spLocks noGrp="1"/>
          </p:cNvSpPr>
          <p:nvPr>
            <p:ph idx="1"/>
          </p:nvPr>
        </p:nvSpPr>
        <p:spPr>
          <a:xfrm>
            <a:off x="1025860" y="1347537"/>
            <a:ext cx="10814047" cy="5229726"/>
          </a:xfrm>
        </p:spPr>
        <p:txBody>
          <a:bodyPr>
            <a:normAutofit fontScale="92500" lnSpcReduction="20000"/>
          </a:bodyPr>
          <a:lstStyle/>
          <a:p>
            <a:pPr marL="0" indent="0">
              <a:buNone/>
            </a:pPr>
            <a:r>
              <a:rPr lang="en-US" dirty="0"/>
              <a:t>Mobile architecture defines how components interact.</a:t>
            </a:r>
          </a:p>
          <a:p>
            <a:pPr marL="0" indent="0">
              <a:buNone/>
            </a:pPr>
            <a:r>
              <a:rPr lang="en-US" dirty="0"/>
              <a:t>Some common Architectures are:</a:t>
            </a:r>
          </a:p>
          <a:p>
            <a:pPr marL="0" indent="0">
              <a:buNone/>
            </a:pPr>
            <a:r>
              <a:rPr lang="en-US" sz="3000" b="1" dirty="0"/>
              <a:t>MVC (Model View Controller)</a:t>
            </a:r>
          </a:p>
          <a:p>
            <a:pPr marL="0" indent="0">
              <a:buNone/>
            </a:pPr>
            <a:r>
              <a:rPr lang="en-US" b="1" dirty="0"/>
              <a:t>Structure:</a:t>
            </a:r>
          </a:p>
          <a:p>
            <a:r>
              <a:rPr lang="en-US" dirty="0"/>
              <a:t>Model – Data </a:t>
            </a:r>
          </a:p>
          <a:p>
            <a:r>
              <a:rPr lang="en-US" dirty="0"/>
              <a:t>View – UI</a:t>
            </a:r>
          </a:p>
          <a:p>
            <a:r>
              <a:rPr lang="en-US" dirty="0"/>
              <a:t>Controller – logic</a:t>
            </a:r>
          </a:p>
          <a:p>
            <a:pPr marL="0" indent="0">
              <a:buNone/>
            </a:pPr>
            <a:r>
              <a:rPr lang="en-US" b="1" dirty="0"/>
              <a:t>Advantages:</a:t>
            </a:r>
          </a:p>
          <a:p>
            <a:r>
              <a:rPr lang="en-US" dirty="0"/>
              <a:t>Simple </a:t>
            </a:r>
          </a:p>
          <a:p>
            <a:r>
              <a:rPr lang="en-US" dirty="0"/>
              <a:t>Easy to understand</a:t>
            </a:r>
          </a:p>
          <a:p>
            <a:pPr marL="0" indent="0">
              <a:buNone/>
            </a:pPr>
            <a:r>
              <a:rPr lang="en-US" dirty="0"/>
              <a:t>Disadvantages:</a:t>
            </a:r>
          </a:p>
          <a:p>
            <a:r>
              <a:rPr lang="en-US" dirty="0"/>
              <a:t>Controller becomes Large </a:t>
            </a:r>
          </a:p>
          <a:p>
            <a:pPr marL="0" indent="0">
              <a:buNone/>
            </a:pPr>
            <a:endParaRPr lang="en-US" dirty="0"/>
          </a:p>
        </p:txBody>
      </p:sp>
    </p:spTree>
    <p:extLst>
      <p:ext uri="{BB962C8B-B14F-4D97-AF65-F5344CB8AC3E}">
        <p14:creationId xmlns:p14="http://schemas.microsoft.com/office/powerpoint/2010/main" val="147653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C0ACA-4805-6606-C202-82296297A14E}"/>
              </a:ext>
            </a:extLst>
          </p:cNvPr>
          <p:cNvSpPr>
            <a:spLocks noGrp="1"/>
          </p:cNvSpPr>
          <p:nvPr>
            <p:ph type="title"/>
          </p:nvPr>
        </p:nvSpPr>
        <p:spPr>
          <a:xfrm>
            <a:off x="914400" y="266833"/>
            <a:ext cx="10810240" cy="1610093"/>
          </a:xfrm>
        </p:spPr>
        <p:txBody>
          <a:bodyPr>
            <a:normAutofit/>
          </a:bodyPr>
          <a:lstStyle/>
          <a:p>
            <a:r>
              <a:rPr lang="en-US" sz="3200" b="1" dirty="0"/>
              <a:t>Mobile Application Architectures and Design Patterns</a:t>
            </a:r>
            <a:endParaRPr lang="en-US" sz="3200" dirty="0"/>
          </a:p>
        </p:txBody>
      </p:sp>
      <p:sp>
        <p:nvSpPr>
          <p:cNvPr id="3" name="Content Placeholder 2">
            <a:extLst>
              <a:ext uri="{FF2B5EF4-FFF2-40B4-BE49-F238E27FC236}">
                <a16:creationId xmlns:a16="http://schemas.microsoft.com/office/drawing/2014/main" id="{60D56129-93EC-D4BF-7D5D-7196A7DFD8C9}"/>
              </a:ext>
            </a:extLst>
          </p:cNvPr>
          <p:cNvSpPr>
            <a:spLocks noGrp="1"/>
          </p:cNvSpPr>
          <p:nvPr>
            <p:ph idx="1"/>
          </p:nvPr>
        </p:nvSpPr>
        <p:spPr>
          <a:xfrm>
            <a:off x="1664336" y="1602606"/>
            <a:ext cx="9613264" cy="4700337"/>
          </a:xfrm>
        </p:spPr>
        <p:txBody>
          <a:bodyPr>
            <a:normAutofit fontScale="92500" lnSpcReduction="10000"/>
          </a:bodyPr>
          <a:lstStyle/>
          <a:p>
            <a:pPr marL="0" indent="0">
              <a:buNone/>
            </a:pPr>
            <a:r>
              <a:rPr lang="en-US" sz="3000" b="1" dirty="0"/>
              <a:t>MVP (Model View Presenter)</a:t>
            </a:r>
            <a:endParaRPr lang="en-US" sz="3000" dirty="0"/>
          </a:p>
          <a:p>
            <a:pPr marL="0" indent="0">
              <a:buNone/>
            </a:pPr>
            <a:r>
              <a:rPr lang="en-US" dirty="0"/>
              <a:t>Structure:</a:t>
            </a:r>
          </a:p>
          <a:p>
            <a:r>
              <a:rPr lang="en-US" dirty="0"/>
              <a:t>Model – Data</a:t>
            </a:r>
          </a:p>
          <a:p>
            <a:r>
              <a:rPr lang="en-US" dirty="0"/>
              <a:t>View- UI</a:t>
            </a:r>
          </a:p>
          <a:p>
            <a:r>
              <a:rPr lang="en-US" dirty="0"/>
              <a:t>Presenter- Logic</a:t>
            </a:r>
          </a:p>
          <a:p>
            <a:pPr marL="0" indent="0">
              <a:buNone/>
            </a:pPr>
            <a:r>
              <a:rPr lang="en-US" b="1" dirty="0"/>
              <a:t>Advantages:</a:t>
            </a:r>
          </a:p>
          <a:p>
            <a:r>
              <a:rPr lang="en-US" dirty="0"/>
              <a:t>Better separation</a:t>
            </a:r>
          </a:p>
          <a:p>
            <a:r>
              <a:rPr lang="en-US" dirty="0"/>
              <a:t>Easier testing</a:t>
            </a:r>
          </a:p>
          <a:p>
            <a:pPr marL="0" indent="0">
              <a:buNone/>
            </a:pPr>
            <a:r>
              <a:rPr lang="en-US" b="1" dirty="0"/>
              <a:t>Disadvantages</a:t>
            </a:r>
            <a:r>
              <a:rPr lang="en-US" dirty="0"/>
              <a:t>:</a:t>
            </a:r>
          </a:p>
          <a:p>
            <a:r>
              <a:rPr lang="en-US" dirty="0"/>
              <a:t>More classes required</a:t>
            </a:r>
          </a:p>
        </p:txBody>
      </p:sp>
    </p:spTree>
    <p:extLst>
      <p:ext uri="{BB962C8B-B14F-4D97-AF65-F5344CB8AC3E}">
        <p14:creationId xmlns:p14="http://schemas.microsoft.com/office/powerpoint/2010/main" val="53102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73A13-120F-D3E9-96E5-86F14F3109B3}"/>
              </a:ext>
            </a:extLst>
          </p:cNvPr>
          <p:cNvSpPr>
            <a:spLocks noGrp="1"/>
          </p:cNvSpPr>
          <p:nvPr>
            <p:ph type="title"/>
          </p:nvPr>
        </p:nvSpPr>
        <p:spPr>
          <a:xfrm>
            <a:off x="836863" y="495300"/>
            <a:ext cx="11839074" cy="1143000"/>
          </a:xfrm>
        </p:spPr>
        <p:txBody>
          <a:bodyPr>
            <a:normAutofit/>
          </a:bodyPr>
          <a:lstStyle/>
          <a:p>
            <a:r>
              <a:rPr lang="en-US" sz="3000" b="1" dirty="0"/>
              <a:t>Mobile Application Architectures and Design Patterns</a:t>
            </a:r>
            <a:endParaRPr lang="en-US" sz="3000" dirty="0"/>
          </a:p>
        </p:txBody>
      </p:sp>
      <p:sp>
        <p:nvSpPr>
          <p:cNvPr id="3" name="Content Placeholder 2">
            <a:extLst>
              <a:ext uri="{FF2B5EF4-FFF2-40B4-BE49-F238E27FC236}">
                <a16:creationId xmlns:a16="http://schemas.microsoft.com/office/drawing/2014/main" id="{6BBD6447-00FE-4C2A-F058-9C1FF6B795C8}"/>
              </a:ext>
            </a:extLst>
          </p:cNvPr>
          <p:cNvSpPr>
            <a:spLocks noGrp="1"/>
          </p:cNvSpPr>
          <p:nvPr>
            <p:ph idx="1"/>
          </p:nvPr>
        </p:nvSpPr>
        <p:spPr>
          <a:xfrm>
            <a:off x="1472132" y="1844843"/>
            <a:ext cx="10813212" cy="4517857"/>
          </a:xfrm>
        </p:spPr>
        <p:txBody>
          <a:bodyPr>
            <a:normAutofit fontScale="85000" lnSpcReduction="20000"/>
          </a:bodyPr>
          <a:lstStyle/>
          <a:p>
            <a:pPr marL="0" indent="0">
              <a:buNone/>
            </a:pPr>
            <a:r>
              <a:rPr lang="en-US" sz="2800" b="1" dirty="0"/>
              <a:t>MVVM (Model View </a:t>
            </a:r>
            <a:r>
              <a:rPr lang="en-US" sz="2800" b="1" dirty="0" err="1"/>
              <a:t>ViewModel</a:t>
            </a:r>
            <a:r>
              <a:rPr lang="en-US" sz="2800" b="1" dirty="0"/>
              <a:t>)</a:t>
            </a:r>
          </a:p>
          <a:p>
            <a:pPr marL="0" indent="0">
              <a:buNone/>
            </a:pPr>
            <a:r>
              <a:rPr lang="en-US" dirty="0"/>
              <a:t>Structure:</a:t>
            </a:r>
          </a:p>
          <a:p>
            <a:r>
              <a:rPr lang="en-US" dirty="0"/>
              <a:t>Model- data</a:t>
            </a:r>
          </a:p>
          <a:p>
            <a:r>
              <a:rPr lang="en-US" dirty="0"/>
              <a:t>View- UI</a:t>
            </a:r>
          </a:p>
          <a:p>
            <a:r>
              <a:rPr lang="en-US" dirty="0" err="1"/>
              <a:t>ViewModel</a:t>
            </a:r>
            <a:r>
              <a:rPr lang="en-US" dirty="0"/>
              <a:t> – Business logic</a:t>
            </a:r>
          </a:p>
          <a:p>
            <a:pPr marL="0" indent="0">
              <a:buNone/>
            </a:pPr>
            <a:r>
              <a:rPr lang="en-US" sz="2800" b="1" dirty="0"/>
              <a:t>Advantages:</a:t>
            </a:r>
          </a:p>
          <a:p>
            <a:r>
              <a:rPr lang="en-US" dirty="0"/>
              <a:t>Modern Architecture</a:t>
            </a:r>
          </a:p>
          <a:p>
            <a:r>
              <a:rPr lang="en-US" dirty="0"/>
              <a:t>Good maintainability</a:t>
            </a:r>
          </a:p>
          <a:p>
            <a:r>
              <a:rPr lang="en-US" dirty="0"/>
              <a:t>Testable </a:t>
            </a:r>
          </a:p>
          <a:p>
            <a:pPr marL="0" indent="0">
              <a:buNone/>
            </a:pPr>
            <a:r>
              <a:rPr lang="en-US" sz="2800" b="1" dirty="0"/>
              <a:t>Disadvantages:</a:t>
            </a:r>
          </a:p>
          <a:p>
            <a:r>
              <a:rPr lang="en-US" dirty="0"/>
              <a:t>Complex for beginners</a:t>
            </a:r>
          </a:p>
          <a:p>
            <a:pPr marL="0" indent="0">
              <a:buNone/>
            </a:pPr>
            <a:endParaRPr lang="en-US" dirty="0"/>
          </a:p>
        </p:txBody>
      </p:sp>
    </p:spTree>
    <p:extLst>
      <p:ext uri="{BB962C8B-B14F-4D97-AF65-F5344CB8AC3E}">
        <p14:creationId xmlns:p14="http://schemas.microsoft.com/office/powerpoint/2010/main" val="1357092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C553F-3342-11C5-585B-B460B9FD743C}"/>
              </a:ext>
            </a:extLst>
          </p:cNvPr>
          <p:cNvSpPr>
            <a:spLocks noGrp="1"/>
          </p:cNvSpPr>
          <p:nvPr>
            <p:ph type="title"/>
          </p:nvPr>
        </p:nvSpPr>
        <p:spPr>
          <a:xfrm>
            <a:off x="1484311" y="685800"/>
            <a:ext cx="10018713" cy="950495"/>
          </a:xfrm>
        </p:spPr>
        <p:txBody>
          <a:bodyPr/>
          <a:lstStyle/>
          <a:p>
            <a:r>
              <a:rPr lang="en-US" b="1" dirty="0"/>
              <a:t>Requirement Engineering Process</a:t>
            </a:r>
          </a:p>
        </p:txBody>
      </p:sp>
      <p:sp>
        <p:nvSpPr>
          <p:cNvPr id="3" name="Content Placeholder 2">
            <a:extLst>
              <a:ext uri="{FF2B5EF4-FFF2-40B4-BE49-F238E27FC236}">
                <a16:creationId xmlns:a16="http://schemas.microsoft.com/office/drawing/2014/main" id="{FBA89983-8A4A-8721-0BDA-29D12D83B1B2}"/>
              </a:ext>
            </a:extLst>
          </p:cNvPr>
          <p:cNvSpPr>
            <a:spLocks noGrp="1"/>
          </p:cNvSpPr>
          <p:nvPr>
            <p:ph idx="1"/>
          </p:nvPr>
        </p:nvSpPr>
        <p:spPr>
          <a:xfrm>
            <a:off x="1484310" y="1636295"/>
            <a:ext cx="10018713" cy="4002505"/>
          </a:xfrm>
        </p:spPr>
        <p:txBody>
          <a:bodyPr>
            <a:normAutofit fontScale="40000" lnSpcReduction="20000"/>
          </a:bodyPr>
          <a:lstStyle/>
          <a:p>
            <a:pPr marL="0" indent="0">
              <a:lnSpc>
                <a:spcPct val="170000"/>
              </a:lnSpc>
              <a:buNone/>
            </a:pPr>
            <a:r>
              <a:rPr lang="en-US" sz="6200" dirty="0"/>
              <a:t>This structured approach ensures to requirements ensures that the final product aligns with user expectations and all the expected technical constraints.</a:t>
            </a:r>
            <a:endParaRPr lang="en-US" sz="6200" b="1" dirty="0"/>
          </a:p>
          <a:p>
            <a:pPr marL="0" indent="0">
              <a:buNone/>
            </a:pPr>
            <a:r>
              <a:rPr lang="en-US" sz="6200" b="1" dirty="0"/>
              <a:t>Requirement Gathering.</a:t>
            </a:r>
          </a:p>
          <a:p>
            <a:pPr marL="0" indent="0">
              <a:lnSpc>
                <a:spcPct val="170000"/>
              </a:lnSpc>
              <a:buNone/>
            </a:pPr>
            <a:r>
              <a:rPr lang="en-US" sz="5000" dirty="0"/>
              <a:t>Through direct engagement with all stakeholders and the prospective users of the system, the various needs and requirements of the application can be known. The following methods  are employed in getting requirements:</a:t>
            </a:r>
          </a:p>
          <a:p>
            <a:pPr marL="0" indent="0">
              <a:lnSpc>
                <a:spcPct val="170000"/>
              </a:lnSpc>
              <a:buNone/>
            </a:pPr>
            <a:endParaRPr lang="en-US" sz="4200" dirty="0"/>
          </a:p>
        </p:txBody>
      </p:sp>
      <p:grpSp>
        <p:nvGrpSpPr>
          <p:cNvPr id="8" name="Group 7">
            <a:extLst>
              <a:ext uri="{FF2B5EF4-FFF2-40B4-BE49-F238E27FC236}">
                <a16:creationId xmlns:a16="http://schemas.microsoft.com/office/drawing/2014/main" id="{9F90F291-66DC-A307-1BAB-D0BF0E26F8B0}"/>
              </a:ext>
            </a:extLst>
          </p:cNvPr>
          <p:cNvGrpSpPr/>
          <p:nvPr/>
        </p:nvGrpSpPr>
        <p:grpSpPr>
          <a:xfrm>
            <a:off x="2561746" y="5753854"/>
            <a:ext cx="7315200" cy="369332"/>
            <a:chOff x="3210560" y="5037039"/>
            <a:chExt cx="7315200" cy="369332"/>
          </a:xfrm>
        </p:grpSpPr>
        <p:sp>
          <p:nvSpPr>
            <p:cNvPr id="4" name="TextBox 3">
              <a:extLst>
                <a:ext uri="{FF2B5EF4-FFF2-40B4-BE49-F238E27FC236}">
                  <a16:creationId xmlns:a16="http://schemas.microsoft.com/office/drawing/2014/main" id="{2DD844A6-A126-97F2-7EB3-7689F71361C1}"/>
                </a:ext>
              </a:extLst>
            </p:cNvPr>
            <p:cNvSpPr txBox="1"/>
            <p:nvPr/>
          </p:nvSpPr>
          <p:spPr>
            <a:xfrm>
              <a:off x="3210560" y="5037039"/>
              <a:ext cx="1654654"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t>Interviews</a:t>
              </a:r>
            </a:p>
          </p:txBody>
        </p:sp>
        <p:sp>
          <p:nvSpPr>
            <p:cNvPr id="5" name="TextBox 4">
              <a:extLst>
                <a:ext uri="{FF2B5EF4-FFF2-40B4-BE49-F238E27FC236}">
                  <a16:creationId xmlns:a16="http://schemas.microsoft.com/office/drawing/2014/main" id="{0F20B163-A560-8BA0-DB19-9A1F3D4C911C}"/>
                </a:ext>
              </a:extLst>
            </p:cNvPr>
            <p:cNvSpPr txBox="1"/>
            <p:nvPr/>
          </p:nvSpPr>
          <p:spPr>
            <a:xfrm>
              <a:off x="4753454" y="5037039"/>
              <a:ext cx="2013106"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t>Questionnaires</a:t>
              </a:r>
            </a:p>
          </p:txBody>
        </p:sp>
        <p:sp>
          <p:nvSpPr>
            <p:cNvPr id="6" name="TextBox 5">
              <a:extLst>
                <a:ext uri="{FF2B5EF4-FFF2-40B4-BE49-F238E27FC236}">
                  <a16:creationId xmlns:a16="http://schemas.microsoft.com/office/drawing/2014/main" id="{8DC3A843-1C10-D702-1013-3AAA3959E10A}"/>
                </a:ext>
              </a:extLst>
            </p:cNvPr>
            <p:cNvSpPr txBox="1"/>
            <p:nvPr/>
          </p:nvSpPr>
          <p:spPr>
            <a:xfrm>
              <a:off x="6846414" y="5037039"/>
              <a:ext cx="1778000"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t>Observation</a:t>
              </a:r>
            </a:p>
          </p:txBody>
        </p:sp>
        <p:sp>
          <p:nvSpPr>
            <p:cNvPr id="7" name="TextBox 6">
              <a:extLst>
                <a:ext uri="{FF2B5EF4-FFF2-40B4-BE49-F238E27FC236}">
                  <a16:creationId xmlns:a16="http://schemas.microsoft.com/office/drawing/2014/main" id="{71773C78-17B9-D7BC-2D1D-BF80973210DE}"/>
                </a:ext>
              </a:extLst>
            </p:cNvPr>
            <p:cNvSpPr txBox="1"/>
            <p:nvPr/>
          </p:nvSpPr>
          <p:spPr>
            <a:xfrm>
              <a:off x="8747760" y="5037039"/>
              <a:ext cx="1778000"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t>Surveys</a:t>
              </a:r>
            </a:p>
          </p:txBody>
        </p:sp>
      </p:grpSp>
    </p:spTree>
    <p:extLst>
      <p:ext uri="{BB962C8B-B14F-4D97-AF65-F5344CB8AC3E}">
        <p14:creationId xmlns:p14="http://schemas.microsoft.com/office/powerpoint/2010/main" val="4017761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57C95-5D56-271F-F215-CEBA44169169}"/>
              </a:ext>
            </a:extLst>
          </p:cNvPr>
          <p:cNvSpPr>
            <a:spLocks noGrp="1"/>
          </p:cNvSpPr>
          <p:nvPr>
            <p:ph type="title"/>
          </p:nvPr>
        </p:nvSpPr>
        <p:spPr>
          <a:xfrm>
            <a:off x="1484311" y="685801"/>
            <a:ext cx="10018713" cy="854242"/>
          </a:xfrm>
        </p:spPr>
        <p:txBody>
          <a:bodyPr/>
          <a:lstStyle/>
          <a:p>
            <a:r>
              <a:rPr lang="en-US" b="1" dirty="0"/>
              <a:t>Requirement Engineering Process</a:t>
            </a:r>
            <a:endParaRPr lang="en-US" dirty="0"/>
          </a:p>
        </p:txBody>
      </p:sp>
      <p:sp>
        <p:nvSpPr>
          <p:cNvPr id="4" name="TextBox 3">
            <a:extLst>
              <a:ext uri="{FF2B5EF4-FFF2-40B4-BE49-F238E27FC236}">
                <a16:creationId xmlns:a16="http://schemas.microsoft.com/office/drawing/2014/main" id="{C8E46721-94C0-F0B3-A09E-D585B3B2913C}"/>
              </a:ext>
            </a:extLst>
          </p:cNvPr>
          <p:cNvSpPr txBox="1"/>
          <p:nvPr/>
        </p:nvSpPr>
        <p:spPr>
          <a:xfrm>
            <a:off x="1484311" y="1803400"/>
            <a:ext cx="3454400" cy="461665"/>
          </a:xfrm>
          <a:prstGeom prst="rect">
            <a:avLst/>
          </a:prstGeom>
          <a:noFill/>
        </p:spPr>
        <p:txBody>
          <a:bodyPr wrap="square" rtlCol="0">
            <a:spAutoFit/>
          </a:bodyPr>
          <a:lstStyle/>
          <a:p>
            <a:r>
              <a:rPr lang="en-US" sz="2400" b="1" dirty="0"/>
              <a:t>Requirement Analysis</a:t>
            </a:r>
          </a:p>
        </p:txBody>
      </p:sp>
      <p:sp>
        <p:nvSpPr>
          <p:cNvPr id="5" name="TextBox 4">
            <a:extLst>
              <a:ext uri="{FF2B5EF4-FFF2-40B4-BE49-F238E27FC236}">
                <a16:creationId xmlns:a16="http://schemas.microsoft.com/office/drawing/2014/main" id="{1EBCC3FE-EC0F-6A56-1BBD-BAC453EFA4B9}"/>
              </a:ext>
            </a:extLst>
          </p:cNvPr>
          <p:cNvSpPr txBox="1"/>
          <p:nvPr/>
        </p:nvSpPr>
        <p:spPr>
          <a:xfrm>
            <a:off x="1484310" y="2276312"/>
            <a:ext cx="8635050" cy="967957"/>
          </a:xfrm>
          <a:prstGeom prst="rect">
            <a:avLst/>
          </a:prstGeom>
          <a:noFill/>
        </p:spPr>
        <p:txBody>
          <a:bodyPr wrap="square" rtlCol="0">
            <a:spAutoFit/>
          </a:bodyPr>
          <a:lstStyle/>
          <a:p>
            <a:pPr>
              <a:lnSpc>
                <a:spcPct val="150000"/>
              </a:lnSpc>
            </a:pPr>
            <a:r>
              <a:rPr lang="en-US" dirty="0"/>
              <a:t>After requirements are </a:t>
            </a:r>
            <a:r>
              <a:rPr lang="en-US" sz="2000" dirty="0"/>
              <a:t>gathered, they are then categorized in two. That is, </a:t>
            </a:r>
            <a:r>
              <a:rPr lang="en-US" sz="2000" b="1" dirty="0"/>
              <a:t>Functional </a:t>
            </a:r>
            <a:r>
              <a:rPr lang="en-US" sz="2000" dirty="0"/>
              <a:t>and </a:t>
            </a:r>
            <a:r>
              <a:rPr lang="en-US" sz="2000" b="1" dirty="0"/>
              <a:t>non-functional requirements</a:t>
            </a:r>
            <a:endParaRPr lang="en-US" dirty="0"/>
          </a:p>
        </p:txBody>
      </p:sp>
      <p:sp>
        <p:nvSpPr>
          <p:cNvPr id="6" name="TextBox 5">
            <a:extLst>
              <a:ext uri="{FF2B5EF4-FFF2-40B4-BE49-F238E27FC236}">
                <a16:creationId xmlns:a16="http://schemas.microsoft.com/office/drawing/2014/main" id="{D8FAFE69-C85C-6843-ED70-17F0686E7A16}"/>
              </a:ext>
            </a:extLst>
          </p:cNvPr>
          <p:cNvSpPr txBox="1"/>
          <p:nvPr/>
        </p:nvSpPr>
        <p:spPr>
          <a:xfrm>
            <a:off x="1484310" y="3524350"/>
            <a:ext cx="3758249" cy="461665"/>
          </a:xfrm>
          <a:prstGeom prst="rect">
            <a:avLst/>
          </a:prstGeom>
          <a:noFill/>
        </p:spPr>
        <p:txBody>
          <a:bodyPr wrap="square" rtlCol="0">
            <a:spAutoFit/>
          </a:bodyPr>
          <a:lstStyle/>
          <a:p>
            <a:r>
              <a:rPr lang="en-US" sz="2400" b="1" dirty="0"/>
              <a:t>Functional Requirements</a:t>
            </a:r>
          </a:p>
        </p:txBody>
      </p:sp>
      <p:sp>
        <p:nvSpPr>
          <p:cNvPr id="7" name="TextBox 6">
            <a:extLst>
              <a:ext uri="{FF2B5EF4-FFF2-40B4-BE49-F238E27FC236}">
                <a16:creationId xmlns:a16="http://schemas.microsoft.com/office/drawing/2014/main" id="{B97C8BA3-77E2-5F25-51F0-08B973D27659}"/>
              </a:ext>
            </a:extLst>
          </p:cNvPr>
          <p:cNvSpPr txBox="1"/>
          <p:nvPr/>
        </p:nvSpPr>
        <p:spPr>
          <a:xfrm>
            <a:off x="1484310" y="3980538"/>
            <a:ext cx="4256090" cy="1891287"/>
          </a:xfrm>
          <a:prstGeom prst="rect">
            <a:avLst/>
          </a:prstGeom>
          <a:noFill/>
        </p:spPr>
        <p:txBody>
          <a:bodyPr wrap="square" rtlCol="0">
            <a:spAutoFit/>
          </a:bodyPr>
          <a:lstStyle/>
          <a:p>
            <a:pPr algn="just">
              <a:lnSpc>
                <a:spcPct val="150000"/>
              </a:lnSpc>
            </a:pPr>
            <a:r>
              <a:rPr lang="en-US" sz="2000" dirty="0"/>
              <a:t>These are requirements which define what the application must do such as </a:t>
            </a:r>
            <a:r>
              <a:rPr lang="en-US" sz="2000" b="1" dirty="0"/>
              <a:t>user authentication, payment processing, or camera integration</a:t>
            </a:r>
            <a:r>
              <a:rPr lang="en-US" sz="2000" dirty="0"/>
              <a:t>.</a:t>
            </a:r>
          </a:p>
        </p:txBody>
      </p:sp>
      <p:sp>
        <p:nvSpPr>
          <p:cNvPr id="8" name="TextBox 7">
            <a:extLst>
              <a:ext uri="{FF2B5EF4-FFF2-40B4-BE49-F238E27FC236}">
                <a16:creationId xmlns:a16="http://schemas.microsoft.com/office/drawing/2014/main" id="{C675163D-B01D-BC39-A717-8C11439CABC5}"/>
              </a:ext>
            </a:extLst>
          </p:cNvPr>
          <p:cNvSpPr txBox="1"/>
          <p:nvPr/>
        </p:nvSpPr>
        <p:spPr>
          <a:xfrm>
            <a:off x="6354130" y="3524350"/>
            <a:ext cx="4580096" cy="461665"/>
          </a:xfrm>
          <a:prstGeom prst="rect">
            <a:avLst/>
          </a:prstGeom>
          <a:noFill/>
        </p:spPr>
        <p:txBody>
          <a:bodyPr wrap="square" rtlCol="0">
            <a:spAutoFit/>
          </a:bodyPr>
          <a:lstStyle/>
          <a:p>
            <a:r>
              <a:rPr lang="en-US" sz="2400" b="1" dirty="0"/>
              <a:t>Non-Functional Requirements</a:t>
            </a:r>
          </a:p>
        </p:txBody>
      </p:sp>
      <p:sp>
        <p:nvSpPr>
          <p:cNvPr id="9" name="TextBox 8">
            <a:extLst>
              <a:ext uri="{FF2B5EF4-FFF2-40B4-BE49-F238E27FC236}">
                <a16:creationId xmlns:a16="http://schemas.microsoft.com/office/drawing/2014/main" id="{F4E4F2B9-CCAE-1211-DC3A-CC23E81F72C6}"/>
              </a:ext>
            </a:extLst>
          </p:cNvPr>
          <p:cNvSpPr txBox="1"/>
          <p:nvPr/>
        </p:nvSpPr>
        <p:spPr>
          <a:xfrm>
            <a:off x="6354130" y="4032350"/>
            <a:ext cx="4100510" cy="1891287"/>
          </a:xfrm>
          <a:prstGeom prst="rect">
            <a:avLst/>
          </a:prstGeom>
          <a:noFill/>
        </p:spPr>
        <p:txBody>
          <a:bodyPr wrap="square" rtlCol="0">
            <a:spAutoFit/>
          </a:bodyPr>
          <a:lstStyle/>
          <a:p>
            <a:pPr algn="just">
              <a:lnSpc>
                <a:spcPct val="150000"/>
              </a:lnSpc>
            </a:pPr>
            <a:r>
              <a:rPr lang="en-US" sz="2000" dirty="0"/>
              <a:t>These define how the application performs focusing on aspects such like </a:t>
            </a:r>
            <a:r>
              <a:rPr lang="en-US" sz="2000" b="1" dirty="0"/>
              <a:t>security, scalability and system speed</a:t>
            </a:r>
            <a:r>
              <a:rPr lang="en-US" sz="2000" dirty="0"/>
              <a:t>.</a:t>
            </a:r>
          </a:p>
        </p:txBody>
      </p:sp>
    </p:spTree>
    <p:extLst>
      <p:ext uri="{BB962C8B-B14F-4D97-AF65-F5344CB8AC3E}">
        <p14:creationId xmlns:p14="http://schemas.microsoft.com/office/powerpoint/2010/main" val="2573651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8731-B46D-3852-261E-A2CB71B24130}"/>
              </a:ext>
            </a:extLst>
          </p:cNvPr>
          <p:cNvSpPr>
            <a:spLocks noGrp="1"/>
          </p:cNvSpPr>
          <p:nvPr>
            <p:ph type="title"/>
          </p:nvPr>
        </p:nvSpPr>
        <p:spPr>
          <a:xfrm>
            <a:off x="1484311" y="685800"/>
            <a:ext cx="10018713" cy="982579"/>
          </a:xfrm>
        </p:spPr>
        <p:txBody>
          <a:bodyPr/>
          <a:lstStyle/>
          <a:p>
            <a:r>
              <a:rPr lang="en-US" b="1" dirty="0"/>
              <a:t>Requirement Engineering Process</a:t>
            </a:r>
            <a:endParaRPr lang="en-US" dirty="0"/>
          </a:p>
        </p:txBody>
      </p:sp>
      <p:sp>
        <p:nvSpPr>
          <p:cNvPr id="3" name="Content Placeholder 2">
            <a:extLst>
              <a:ext uri="{FF2B5EF4-FFF2-40B4-BE49-F238E27FC236}">
                <a16:creationId xmlns:a16="http://schemas.microsoft.com/office/drawing/2014/main" id="{08431724-0143-76BB-A0E4-67A21A9A6D39}"/>
              </a:ext>
            </a:extLst>
          </p:cNvPr>
          <p:cNvSpPr>
            <a:spLocks noGrp="1"/>
          </p:cNvSpPr>
          <p:nvPr>
            <p:ph idx="1"/>
          </p:nvPr>
        </p:nvSpPr>
        <p:spPr>
          <a:xfrm>
            <a:off x="2074540" y="4836726"/>
            <a:ext cx="6459860" cy="1422400"/>
          </a:xfrm>
        </p:spPr>
        <p:txBody>
          <a:bodyPr>
            <a:normAutofit/>
          </a:bodyPr>
          <a:lstStyle/>
          <a:p>
            <a:pPr marL="0" indent="0">
              <a:buNone/>
            </a:pPr>
            <a:r>
              <a:rPr lang="en-US" sz="2000" b="1" dirty="0"/>
              <a:t>Requirement Validation</a:t>
            </a:r>
          </a:p>
          <a:p>
            <a:pPr marL="0" indent="0">
              <a:buNone/>
            </a:pPr>
            <a:r>
              <a:rPr lang="en-US" sz="2000" dirty="0"/>
              <a:t>Ensures:</a:t>
            </a:r>
          </a:p>
          <a:p>
            <a:pPr marL="0" indent="0">
              <a:buNone/>
            </a:pPr>
            <a:endParaRPr lang="en-US" sz="2000" dirty="0"/>
          </a:p>
        </p:txBody>
      </p:sp>
      <p:sp>
        <p:nvSpPr>
          <p:cNvPr id="4" name="Content Placeholder 2">
            <a:extLst>
              <a:ext uri="{FF2B5EF4-FFF2-40B4-BE49-F238E27FC236}">
                <a16:creationId xmlns:a16="http://schemas.microsoft.com/office/drawing/2014/main" id="{9895986F-DDBA-E37C-15BA-7DCA94735137}"/>
              </a:ext>
            </a:extLst>
          </p:cNvPr>
          <p:cNvSpPr txBox="1">
            <a:spLocks/>
          </p:cNvSpPr>
          <p:nvPr/>
        </p:nvSpPr>
        <p:spPr>
          <a:xfrm>
            <a:off x="1708780" y="1447799"/>
            <a:ext cx="9609460" cy="363220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2800" b="1" dirty="0"/>
              <a:t>Requirement Documentation</a:t>
            </a:r>
          </a:p>
          <a:p>
            <a:pPr marL="0" indent="0">
              <a:lnSpc>
                <a:spcPct val="150000"/>
              </a:lnSpc>
              <a:buFont typeface="Arial"/>
              <a:buNone/>
            </a:pPr>
            <a:r>
              <a:rPr lang="en-US" sz="2000" dirty="0"/>
              <a:t>This ensures clarity between stakeholders and engineers. Here the requirements are formalized using specific documentation tools. Which may include: </a:t>
            </a:r>
          </a:p>
          <a:p>
            <a:pPr>
              <a:buFont typeface="Wingdings" panose="05000000000000000000" pitchFamily="2" charset="2"/>
              <a:buChar char="Ø"/>
            </a:pPr>
            <a:r>
              <a:rPr lang="en-US" sz="2000" dirty="0"/>
              <a:t>User Stories </a:t>
            </a:r>
          </a:p>
          <a:p>
            <a:pPr>
              <a:buFont typeface="Wingdings" panose="05000000000000000000" pitchFamily="2" charset="2"/>
              <a:buChar char="Ø"/>
            </a:pPr>
            <a:r>
              <a:rPr lang="en-US" sz="2000" dirty="0"/>
              <a:t>Use Cases</a:t>
            </a:r>
          </a:p>
          <a:p>
            <a:pPr>
              <a:buFont typeface="Wingdings" panose="05000000000000000000" pitchFamily="2" charset="2"/>
              <a:buChar char="Ø"/>
            </a:pPr>
            <a:r>
              <a:rPr lang="en-US" sz="2000" dirty="0"/>
              <a:t> Software Requirement Specification</a:t>
            </a:r>
          </a:p>
          <a:p>
            <a:pPr>
              <a:buFont typeface="Wingdings" panose="05000000000000000000" pitchFamily="2" charset="2"/>
              <a:buChar char="Ø"/>
            </a:pPr>
            <a:endParaRPr lang="en-US" sz="2000" dirty="0"/>
          </a:p>
        </p:txBody>
      </p:sp>
      <p:grpSp>
        <p:nvGrpSpPr>
          <p:cNvPr id="8" name="Group 7">
            <a:extLst>
              <a:ext uri="{FF2B5EF4-FFF2-40B4-BE49-F238E27FC236}">
                <a16:creationId xmlns:a16="http://schemas.microsoft.com/office/drawing/2014/main" id="{7F165B20-C248-5BD5-B1EF-52D5CFF040B9}"/>
              </a:ext>
            </a:extLst>
          </p:cNvPr>
          <p:cNvGrpSpPr/>
          <p:nvPr/>
        </p:nvGrpSpPr>
        <p:grpSpPr>
          <a:xfrm>
            <a:off x="1932300" y="5979536"/>
            <a:ext cx="8908420" cy="385327"/>
            <a:chOff x="2409820" y="6156205"/>
            <a:chExt cx="8908420" cy="385327"/>
          </a:xfrm>
        </p:grpSpPr>
        <p:sp>
          <p:nvSpPr>
            <p:cNvPr id="5" name="TextBox 4">
              <a:extLst>
                <a:ext uri="{FF2B5EF4-FFF2-40B4-BE49-F238E27FC236}">
                  <a16:creationId xmlns:a16="http://schemas.microsoft.com/office/drawing/2014/main" id="{93D00BF0-14AF-B113-5200-06AA156D2B7B}"/>
                </a:ext>
              </a:extLst>
            </p:cNvPr>
            <p:cNvSpPr txBox="1"/>
            <p:nvPr/>
          </p:nvSpPr>
          <p:spPr>
            <a:xfrm>
              <a:off x="8362630" y="6172200"/>
              <a:ext cx="2955610" cy="369332"/>
            </a:xfrm>
            <a:prstGeom prst="rect">
              <a:avLst/>
            </a:prstGeom>
            <a:noFill/>
          </p:spPr>
          <p:txBody>
            <a:bodyPr wrap="square" rtlCol="0">
              <a:spAutoFit/>
            </a:bodyPr>
            <a:lstStyle/>
            <a:p>
              <a:pPr>
                <a:buFont typeface="Wingdings" panose="05000000000000000000" pitchFamily="2" charset="2"/>
                <a:buChar char="ü"/>
              </a:pPr>
              <a:r>
                <a:rPr lang="en-US" dirty="0"/>
                <a:t>Requirements are correct</a:t>
              </a:r>
            </a:p>
          </p:txBody>
        </p:sp>
        <p:sp>
          <p:nvSpPr>
            <p:cNvPr id="6" name="TextBox 5">
              <a:extLst>
                <a:ext uri="{FF2B5EF4-FFF2-40B4-BE49-F238E27FC236}">
                  <a16:creationId xmlns:a16="http://schemas.microsoft.com/office/drawing/2014/main" id="{D9A0EB99-7973-62EC-AF25-81D766A18A87}"/>
                </a:ext>
              </a:extLst>
            </p:cNvPr>
            <p:cNvSpPr txBox="1"/>
            <p:nvPr/>
          </p:nvSpPr>
          <p:spPr>
            <a:xfrm>
              <a:off x="5273990" y="6172200"/>
              <a:ext cx="3941130" cy="369332"/>
            </a:xfrm>
            <a:prstGeom prst="rect">
              <a:avLst/>
            </a:prstGeom>
            <a:noFill/>
          </p:spPr>
          <p:txBody>
            <a:bodyPr wrap="square" rtlCol="0">
              <a:spAutoFit/>
            </a:bodyPr>
            <a:lstStyle/>
            <a:p>
              <a:pPr>
                <a:buFont typeface="Wingdings" panose="05000000000000000000" pitchFamily="2" charset="2"/>
                <a:buChar char="ü"/>
              </a:pPr>
              <a:r>
                <a:rPr lang="en-US" dirty="0"/>
                <a:t>Requirements are complete</a:t>
              </a:r>
            </a:p>
          </p:txBody>
        </p:sp>
        <p:sp>
          <p:nvSpPr>
            <p:cNvPr id="7" name="TextBox 6">
              <a:extLst>
                <a:ext uri="{FF2B5EF4-FFF2-40B4-BE49-F238E27FC236}">
                  <a16:creationId xmlns:a16="http://schemas.microsoft.com/office/drawing/2014/main" id="{A1676BA7-18B5-B6AC-F9D4-D4501B88DD55}"/>
                </a:ext>
              </a:extLst>
            </p:cNvPr>
            <p:cNvSpPr txBox="1"/>
            <p:nvPr/>
          </p:nvSpPr>
          <p:spPr>
            <a:xfrm>
              <a:off x="2409820" y="6156205"/>
              <a:ext cx="2955610" cy="369332"/>
            </a:xfrm>
            <a:prstGeom prst="rect">
              <a:avLst/>
            </a:prstGeom>
            <a:noFill/>
          </p:spPr>
          <p:txBody>
            <a:bodyPr wrap="square" rtlCol="0">
              <a:spAutoFit/>
            </a:bodyPr>
            <a:lstStyle/>
            <a:p>
              <a:pPr>
                <a:buFont typeface="Wingdings" panose="05000000000000000000" pitchFamily="2" charset="2"/>
                <a:buChar char="ü"/>
              </a:pPr>
              <a:r>
                <a:rPr lang="en-US" dirty="0"/>
                <a:t>Requirements are feasible</a:t>
              </a:r>
            </a:p>
          </p:txBody>
        </p:sp>
      </p:grpSp>
    </p:spTree>
    <p:extLst>
      <p:ext uri="{BB962C8B-B14F-4D97-AF65-F5344CB8AC3E}">
        <p14:creationId xmlns:p14="http://schemas.microsoft.com/office/powerpoint/2010/main" val="2891540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704F-7B1F-54D2-1836-8BDA88B9947D}"/>
              </a:ext>
            </a:extLst>
          </p:cNvPr>
          <p:cNvSpPr>
            <a:spLocks noGrp="1"/>
          </p:cNvSpPr>
          <p:nvPr>
            <p:ph type="title"/>
          </p:nvPr>
        </p:nvSpPr>
        <p:spPr>
          <a:xfrm>
            <a:off x="1484311" y="685801"/>
            <a:ext cx="10018713" cy="1126958"/>
          </a:xfrm>
        </p:spPr>
        <p:txBody>
          <a:bodyPr/>
          <a:lstStyle/>
          <a:p>
            <a:r>
              <a:rPr lang="en-US" b="1" dirty="0"/>
              <a:t>Mobile app development cost estimation</a:t>
            </a:r>
          </a:p>
        </p:txBody>
      </p:sp>
      <p:sp>
        <p:nvSpPr>
          <p:cNvPr id="3" name="Content Placeholder 2">
            <a:extLst>
              <a:ext uri="{FF2B5EF4-FFF2-40B4-BE49-F238E27FC236}">
                <a16:creationId xmlns:a16="http://schemas.microsoft.com/office/drawing/2014/main" id="{43C5E7C9-67AC-46F5-F7D5-F0B236884DBD}"/>
              </a:ext>
            </a:extLst>
          </p:cNvPr>
          <p:cNvSpPr>
            <a:spLocks noGrp="1"/>
          </p:cNvSpPr>
          <p:nvPr>
            <p:ph idx="1"/>
          </p:nvPr>
        </p:nvSpPr>
        <p:spPr>
          <a:xfrm>
            <a:off x="1484311" y="2062480"/>
            <a:ext cx="9712010" cy="2082800"/>
          </a:xfrm>
        </p:spPr>
        <p:txBody>
          <a:bodyPr>
            <a:normAutofit/>
          </a:bodyPr>
          <a:lstStyle/>
          <a:p>
            <a:pPr marL="0" indent="0">
              <a:buNone/>
            </a:pPr>
            <a:r>
              <a:rPr lang="en-US" b="1" dirty="0"/>
              <a:t>Estimating Mobile App Development Cost</a:t>
            </a:r>
          </a:p>
          <a:p>
            <a:pPr marL="0" indent="0">
              <a:buNone/>
            </a:pPr>
            <a:r>
              <a:rPr lang="en-US" dirty="0"/>
              <a:t>Cost depends on multiple factors: App complexity, Development time,  and cost of resources such as developer rates and cost of online resources.</a:t>
            </a:r>
            <a:endParaRPr lang="en-US" b="1" dirty="0"/>
          </a:p>
        </p:txBody>
      </p:sp>
      <p:sp>
        <p:nvSpPr>
          <p:cNvPr id="4" name="Content Placeholder 2">
            <a:extLst>
              <a:ext uri="{FF2B5EF4-FFF2-40B4-BE49-F238E27FC236}">
                <a16:creationId xmlns:a16="http://schemas.microsoft.com/office/drawing/2014/main" id="{26200DA9-7FBF-C1D5-6142-4D5825C8B423}"/>
              </a:ext>
            </a:extLst>
          </p:cNvPr>
          <p:cNvSpPr txBox="1">
            <a:spLocks/>
          </p:cNvSpPr>
          <p:nvPr/>
        </p:nvSpPr>
        <p:spPr>
          <a:xfrm>
            <a:off x="1484311" y="3718560"/>
            <a:ext cx="9712010" cy="168656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dirty="0"/>
              <a:t>Concerning app complexity, simple applications may take short periods like 1-2 months while more complex apps may take longer periods about 6-12 months to develop.</a:t>
            </a:r>
          </a:p>
        </p:txBody>
      </p:sp>
    </p:spTree>
    <p:extLst>
      <p:ext uri="{BB962C8B-B14F-4D97-AF65-F5344CB8AC3E}">
        <p14:creationId xmlns:p14="http://schemas.microsoft.com/office/powerpoint/2010/main" val="2362886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AEFE-FBE8-D35E-FCEF-8E6F38E79182}"/>
              </a:ext>
            </a:extLst>
          </p:cNvPr>
          <p:cNvSpPr>
            <a:spLocks noGrp="1"/>
          </p:cNvSpPr>
          <p:nvPr>
            <p:ph type="title"/>
          </p:nvPr>
        </p:nvSpPr>
        <p:spPr>
          <a:xfrm>
            <a:off x="1484311" y="685801"/>
            <a:ext cx="10018713" cy="1110916"/>
          </a:xfrm>
        </p:spPr>
        <p:txBody>
          <a:bodyPr/>
          <a:lstStyle/>
          <a:p>
            <a:r>
              <a:rPr lang="en-US" b="1" dirty="0"/>
              <a:t>Mobile app development cost estimation</a:t>
            </a:r>
            <a:endParaRPr lang="en-US" dirty="0"/>
          </a:p>
        </p:txBody>
      </p:sp>
      <p:sp>
        <p:nvSpPr>
          <p:cNvPr id="3" name="Content Placeholder 2">
            <a:extLst>
              <a:ext uri="{FF2B5EF4-FFF2-40B4-BE49-F238E27FC236}">
                <a16:creationId xmlns:a16="http://schemas.microsoft.com/office/drawing/2014/main" id="{A019FE19-505C-01B9-019F-0C752D526529}"/>
              </a:ext>
            </a:extLst>
          </p:cNvPr>
          <p:cNvSpPr>
            <a:spLocks noGrp="1"/>
          </p:cNvSpPr>
          <p:nvPr>
            <p:ph idx="1"/>
          </p:nvPr>
        </p:nvSpPr>
        <p:spPr>
          <a:xfrm>
            <a:off x="1484310" y="1796716"/>
            <a:ext cx="10018713" cy="4620125"/>
          </a:xfrm>
        </p:spPr>
        <p:txBody>
          <a:bodyPr/>
          <a:lstStyle/>
          <a:p>
            <a:pPr marL="0" indent="0">
              <a:buNone/>
            </a:pPr>
            <a:r>
              <a:rPr lang="en-US" b="1" dirty="0"/>
              <a:t>Some Features Affecting Cost:</a:t>
            </a:r>
            <a:endParaRPr lang="en-US" dirty="0"/>
          </a:p>
          <a:p>
            <a:pPr lvl="0"/>
            <a:r>
              <a:rPr lang="en-US" dirty="0"/>
              <a:t>Authentication</a:t>
            </a:r>
          </a:p>
          <a:p>
            <a:pPr lvl="0"/>
            <a:r>
              <a:rPr lang="en-US" dirty="0"/>
              <a:t>Payment integration</a:t>
            </a:r>
          </a:p>
          <a:p>
            <a:pPr lvl="0"/>
            <a:r>
              <a:rPr lang="en-US" dirty="0"/>
              <a:t>Cloud storage</a:t>
            </a:r>
          </a:p>
          <a:p>
            <a:pPr lvl="0"/>
            <a:r>
              <a:rPr lang="en-US" dirty="0"/>
              <a:t>Notifications</a:t>
            </a:r>
          </a:p>
          <a:p>
            <a:pPr lvl="0"/>
            <a:r>
              <a:rPr lang="en-US" dirty="0"/>
              <a:t>API integration</a:t>
            </a:r>
          </a:p>
        </p:txBody>
      </p:sp>
    </p:spTree>
    <p:extLst>
      <p:ext uri="{BB962C8B-B14F-4D97-AF65-F5344CB8AC3E}">
        <p14:creationId xmlns:p14="http://schemas.microsoft.com/office/powerpoint/2010/main" val="2763370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81C59-1EE6-BC6F-6EE1-5C5B48C2F612}"/>
              </a:ext>
            </a:extLst>
          </p:cNvPr>
          <p:cNvSpPr>
            <a:spLocks noGrp="1"/>
          </p:cNvSpPr>
          <p:nvPr>
            <p:ph type="title"/>
          </p:nvPr>
        </p:nvSpPr>
        <p:spPr/>
        <p:txBody>
          <a:bodyPr/>
          <a:lstStyle/>
          <a:p>
            <a:r>
              <a:rPr lang="en-US" b="1" dirty="0"/>
              <a:t>CONCLUSION </a:t>
            </a:r>
          </a:p>
        </p:txBody>
      </p:sp>
      <p:sp>
        <p:nvSpPr>
          <p:cNvPr id="3" name="Content Placeholder 2">
            <a:extLst>
              <a:ext uri="{FF2B5EF4-FFF2-40B4-BE49-F238E27FC236}">
                <a16:creationId xmlns:a16="http://schemas.microsoft.com/office/drawing/2014/main" id="{729C1A31-8B69-0630-871C-9BD638ACA25F}"/>
              </a:ext>
            </a:extLst>
          </p:cNvPr>
          <p:cNvSpPr>
            <a:spLocks noGrp="1"/>
          </p:cNvSpPr>
          <p:nvPr>
            <p:ph idx="1"/>
          </p:nvPr>
        </p:nvSpPr>
        <p:spPr/>
        <p:txBody>
          <a:bodyPr>
            <a:normAutofit/>
          </a:bodyPr>
          <a:lstStyle/>
          <a:p>
            <a:pPr marL="0" indent="0">
              <a:buNone/>
            </a:pPr>
            <a:r>
              <a:rPr lang="en-US" dirty="0"/>
              <a:t>Mobile application development involves selecting the right application type, programming language, framework, and architecture. Native apps provide the best performance but are expensive, while hybrid and PWAs reduce cost and development time. Requirement engineering ensures the application meets user needs, while proper cost estimation helps planning and budgeting.</a:t>
            </a:r>
          </a:p>
          <a:p>
            <a:pPr marL="0" indent="0">
              <a:buNone/>
            </a:pPr>
            <a:r>
              <a:rPr lang="en-US" dirty="0"/>
              <a:t>Organizations must choose technologies based on performance needs, cost constraints, and development timelines.</a:t>
            </a:r>
          </a:p>
          <a:p>
            <a:pPr marL="0" indent="0">
              <a:buNone/>
            </a:pPr>
            <a:endParaRPr lang="en-US" dirty="0"/>
          </a:p>
        </p:txBody>
      </p:sp>
    </p:spTree>
    <p:extLst>
      <p:ext uri="{BB962C8B-B14F-4D97-AF65-F5344CB8AC3E}">
        <p14:creationId xmlns:p14="http://schemas.microsoft.com/office/powerpoint/2010/main" val="4110468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330</TotalTime>
  <Words>915</Words>
  <Application>Microsoft Office PowerPoint</Application>
  <PresentationFormat>Widescreen</PresentationFormat>
  <Paragraphs>164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Corbel</vt:lpstr>
      <vt:lpstr>Times New Roman</vt:lpstr>
      <vt:lpstr>Wingdings</vt:lpstr>
      <vt:lpstr>Parallax</vt:lpstr>
      <vt:lpstr>CEF440 Internet And Mobile Programming</vt:lpstr>
      <vt:lpstr>Introduction to mobile applications</vt:lpstr>
      <vt:lpstr>Introduction to Mobile Application</vt:lpstr>
      <vt:lpstr>Types Of Mobile Applications</vt:lpstr>
      <vt:lpstr>NATIVE APPLICATIONS</vt:lpstr>
      <vt:lpstr>NATIVE APPLICATIONS</vt:lpstr>
      <vt:lpstr>Progressive Web Applications (PWA)</vt:lpstr>
      <vt:lpstr>Progressive Web Applications (PWA)</vt:lpstr>
      <vt:lpstr>Hybrid Applications</vt:lpstr>
      <vt:lpstr>Hybrid Applications </vt:lpstr>
      <vt:lpstr>Mobile App Programming Language</vt:lpstr>
      <vt:lpstr>Mobile Development Frameworks</vt:lpstr>
      <vt:lpstr>Mobile Application Architectures and Design Patterns </vt:lpstr>
      <vt:lpstr>Mobile Application Architectures and Design Patterns</vt:lpstr>
      <vt:lpstr>Mobile Application Architectures and Design Patterns</vt:lpstr>
      <vt:lpstr>Requirement Engineering Process</vt:lpstr>
      <vt:lpstr>Requirement Engineering Process</vt:lpstr>
      <vt:lpstr>Requirement Engineering Process</vt:lpstr>
      <vt:lpstr>Mobile app development cost estimation</vt:lpstr>
      <vt:lpstr>Mobile app development cost estimation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guymbowoh@gmail.com</dc:creator>
  <cp:lastModifiedBy>Fontebo Achah</cp:lastModifiedBy>
  <cp:revision>8</cp:revision>
  <dcterms:created xsi:type="dcterms:W3CDTF">2026-04-07T00:16:45Z</dcterms:created>
  <dcterms:modified xsi:type="dcterms:W3CDTF">2026-04-07T14:25:59Z</dcterms:modified>
</cp:coreProperties>
</file>