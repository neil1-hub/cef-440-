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67" r:id="rId11"/>
    <p:sldId id="268" r:id="rId12"/>
    <p:sldId id="264" r:id="rId13"/>
    <p:sldId id="265" r:id="rId14"/>
    <p:sldId id="266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50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2961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Introduce the team and confirm time allocation: ~5-7 minutes total, roughly 1 min per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context. Task 5 was the bridge from design to visible product. Emphasise the four pillars shown on this slide before diving into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Briefly walk through the stack. The key point for the audience: all tools are free and open-source, and the last two (navigator.connection + Battery Status API) are the browser APIs that power our QoE monitoring without any server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column = one actor from the use case diagram. Point out that ProtectedRoute in React Router ensures a student cannot access the admin pages and vice versa. This directly implements the role requirements from Task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technical slide. Passive monitoring costs nothing — the browser already tracks these values. Active testing is the precision check. The five adaptation rules are directly configurable by the admin. Emphasise: all decisions happen client-side, no server round-trip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the student never has to do anything manually. The system handles degradation transparently. The QoEBanner is the only visible signal — non-intrusive, informative, auto-dismissing.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these back to the survey. Students said data is expensive, devices are slow, connectivity drops. These five decisions are the direct design response to those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each placeholder box with an actual screenshot of the running app before the presentation. Demo: consider showing the live app if a projector and laptop are available — run npm run dev and walk through one student journey.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68E53-7CB9-C883-18B4-917905BDD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7CD9A2-9197-B2D8-92BB-3751ED1A92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0E47E8-BC47-3B8B-B225-12D07F20BE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each placeholder box with an actual screenshot of the running app before the presentation. Demo: consider showing the live app if a projector and laptop are available — run npm run dev and walk through one student journey.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94C07E-46BC-AF7B-FCAC-3ED0915E58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4245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7FB69-95B2-DC9F-198A-DA93678A7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F92597-1F06-50CE-AAFA-6D18C9DD07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419F39-33B7-B952-DC45-ACDDAF4896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each placeholder box with an actual screenshot of the running app before the presentation. Demo: consider showing the live app if a projector and laptop are available — run npm run dev and walk through one student journey.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BE0EE6-0718-2D74-F55A-929BDC05A1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6882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E8422-45AF-EA07-49B3-9ECF18552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AAE9AF-6D80-C389-0D71-4F04FF7950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274DC3-641B-2B61-74FA-F69DB37F46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each placeholder box with an actual screenshot of the running app before the presentation. Demo: consider showing the live app if a projector and laptop are available — run npm run dev and walk through one student journey.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82DB7D-4813-30AC-9916-AC106FDFB3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9490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that the team anticipated problems and had principled solutions. Row 2 (instant adaptation) is the strongest technical point — emphasise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= done. Right = coming next week. Use this slide to show progress continuity and that Task 5 is genuinely complete.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Closing. Invite questions. If the demo is available, offer to walk through one scenario: student logs in → bandwidth drops → ContentPlayer switches to audio-only → QoEBanner appears → bandwidth recovers → video resumes.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-457200"/>
            <a:ext cx="2011680" cy="2011680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CEF440 · Mobile Programming Projects 2025–2026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Design &amp; Frontend Implementation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BrainPath — Adaptive E-learning Platform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1371600" cy="329184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004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9–10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7490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1]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48840" y="37490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2]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0" y="37490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3]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532120" y="37490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4]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223760" y="37490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5]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32240"/>
          </a:solidFill>
          <a:ln w="12700">
            <a:solidFill>
              <a:srgbClr val="1322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 Overview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82296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this week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040" y="123444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functional, role-based frontend for BrainPath with integrated QoE monitoring that adapts content delivery in real time based on network and device conditions.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2011680"/>
            <a:ext cx="2011680" cy="25603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3810">
            <a:solidFill>
              <a:srgbClr val="94A3B8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2011680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54203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31089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role dashboards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3192" y="3456432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· Instructor · Admin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496312" y="2011680"/>
            <a:ext cx="2011680" cy="25603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3810">
            <a:solidFill>
              <a:srgbClr val="94A3B8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96312" y="2011680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96312" y="254203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587752" y="31089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QoE monitoring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69464" y="3456432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+ active hybrid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72584" y="2011680"/>
            <a:ext cx="2011680" cy="25603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3810">
            <a:solidFill>
              <a:srgbClr val="94A3B8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72584" y="2011680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72584" y="254203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764024" y="31089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player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45736" y="3456432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/ Audio / Text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848856" y="2011680"/>
            <a:ext cx="2011680" cy="25603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3810">
            <a:solidFill>
              <a:srgbClr val="94A3B8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48856" y="2011680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48856" y="254203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940296" y="31089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codebase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22008" y="3456432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Tailwind + scripts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3810">
            <a:solidFill>
              <a:srgbClr val="94A3B8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29768" y="1051560"/>
            <a:ext cx="420624" cy="42062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051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41832" y="96012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(Vite)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41832" y="125272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Component-based UI · fast dev builds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847088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3810">
            <a:solidFill>
              <a:srgbClr val="94A3B8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" y="2029968"/>
            <a:ext cx="420624" cy="42062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2029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41832" y="193852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41832" y="223113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Utility-first responsive styling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825496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3810">
            <a:solidFill>
              <a:srgbClr val="94A3B8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9768" y="3008376"/>
            <a:ext cx="420624" cy="42062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3008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41832" y="291693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v6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41832" y="320954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routing · protected routes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803904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3810">
            <a:solidFill>
              <a:srgbClr val="94A3B8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9768" y="3986784"/>
            <a:ext cx="420624" cy="42062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" y="3986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41832" y="389534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41832" y="418795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client · auth token interceptors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868680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3810">
            <a:solidFill>
              <a:srgbClr val="94A3B8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10328" y="1051560"/>
            <a:ext cx="420624" cy="42062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0328" y="1051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22392" y="96012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Lucide React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22392" y="125272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icons · low bundle size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1847088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3810">
            <a:solidFill>
              <a:srgbClr val="94A3B8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910328" y="2029968"/>
            <a:ext cx="420624" cy="42062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0328" y="2029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22392" y="193852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navigator.connection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22392" y="223113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network metric reading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00600" y="2825496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3810">
            <a:solidFill>
              <a:srgbClr val="94A3B8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910328" y="3008376"/>
            <a:ext cx="420624" cy="42062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10328" y="3008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22392" y="291693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Status API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22392" y="320954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Low-battery adaptation trigger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Dashboards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88920" cy="402336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3810">
            <a:solidFill>
              <a:srgbClr val="94A3B8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2788920" cy="411480"/>
          </a:xfrm>
          <a:prstGeom prst="roundRect">
            <a:avLst>
              <a:gd name="adj" fmla="val 2222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02336" y="1371600"/>
            <a:ext cx="54864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3716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+ QoE badge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02336" y="1874520"/>
            <a:ext cx="54864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8745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Catalog &amp; search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02336" y="2377440"/>
            <a:ext cx="54864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3774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View + adaptive player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02336" y="2880360"/>
            <a:ext cx="54864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8803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Page (timed, auto-mark)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02336" y="3383280"/>
            <a:ext cx="54864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33832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Report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02336" y="3886200"/>
            <a:ext cx="54864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8862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Content modal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18688" y="822960"/>
            <a:ext cx="2788920" cy="402336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3810">
            <a:solidFill>
              <a:srgbClr val="94A3B8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18688" y="822960"/>
            <a:ext cx="2788920" cy="411480"/>
          </a:xfrm>
          <a:prstGeom prst="roundRect">
            <a:avLst>
              <a:gd name="adj" fmla="val 22222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18688" y="82296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346704" y="1371600"/>
            <a:ext cx="54864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13716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summary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46704" y="1874520"/>
            <a:ext cx="54864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18745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Management (CRUD)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46704" y="2377440"/>
            <a:ext cx="54864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23774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Content (MP4/MP3/PDF)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346704" y="2880360"/>
            <a:ext cx="54864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0" y="28803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Progress table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63056" y="822960"/>
            <a:ext cx="2788920" cy="402336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3810">
            <a:solidFill>
              <a:srgbClr val="94A3B8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63056" y="822960"/>
            <a:ext cx="2788920" cy="411480"/>
          </a:xfrm>
          <a:prstGeom prst="roundRect">
            <a:avLst>
              <a:gd name="adj" fmla="val 22222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63056" y="82296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91072" y="1371600"/>
            <a:ext cx="54864" cy="2560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19088" y="13716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Platform-wide stats dashboard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91072" y="1874520"/>
            <a:ext cx="54864" cy="2560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19088" y="18745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 (role, status)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291072" y="2377440"/>
            <a:ext cx="54864" cy="2560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19088" y="23774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Settings (QoE thresholds)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91072" y="2880360"/>
            <a:ext cx="54864" cy="2560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19088" y="28803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stub (ready for backend)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32240"/>
          </a:solidFill>
          <a:ln w="12700">
            <a:solidFill>
              <a:srgbClr val="1322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QoE Monitoring Service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" y="1170432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BrainPath uses a passive + active hybrid approach to monitor network quality without taxing an already slow connection.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901952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3810">
            <a:solidFill>
              <a:srgbClr val="94A3B8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901952"/>
            <a:ext cx="4114800" cy="347472"/>
          </a:xfrm>
          <a:prstGeom prst="roundRect">
            <a:avLst>
              <a:gd name="adj" fmla="val 2105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90195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monitor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2860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navigator.connection every 5 s — downlink, RTT, effectiveType, battery. Zero overhead, no requests.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3090672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3810">
            <a:solidFill>
              <a:srgbClr val="94A3B8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3090672"/>
            <a:ext cx="4114800" cy="347472"/>
          </a:xfrm>
          <a:prstGeom prst="roundRect">
            <a:avLst>
              <a:gd name="adj" fmla="val 21053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0906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speed test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34747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payload download every 45 s for precision throughput. Corrects drift in passive readings.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80467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 rules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46320" y="1216152"/>
            <a:ext cx="18288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3810">
            <a:solidFill>
              <a:srgbClr val="94A3B8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19472" y="1271016"/>
            <a:ext cx="16824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3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6 Mbps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84848" y="1216152"/>
            <a:ext cx="2011680" cy="530352"/>
          </a:xfrm>
          <a:prstGeom prst="roundRect">
            <a:avLst>
              <a:gd name="adj" fmla="val 10345"/>
            </a:avLst>
          </a:prstGeom>
          <a:solidFill>
            <a:srgbClr val="10B981">
              <a:alpha val="85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84848" y="1271016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720p video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852160" y="1801368"/>
            <a:ext cx="0" cy="91440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1911096"/>
            <a:ext cx="18288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3810">
            <a:solidFill>
              <a:srgbClr val="94A3B8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19472" y="1965960"/>
            <a:ext cx="16824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3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– 6 Mbps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784848" y="1911096"/>
            <a:ext cx="2011680" cy="530352"/>
          </a:xfrm>
          <a:prstGeom prst="roundRect">
            <a:avLst>
              <a:gd name="adj" fmla="val 10345"/>
            </a:avLst>
          </a:prstGeom>
          <a:solidFill>
            <a:srgbClr val="F59E0B">
              <a:alpha val="8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84848" y="1965960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360p video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852160" y="2496312"/>
            <a:ext cx="0" cy="91440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2606040"/>
            <a:ext cx="18288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3810">
            <a:solidFill>
              <a:srgbClr val="94A3B8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19472" y="2660904"/>
            <a:ext cx="16824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3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– 3 Mbps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784848" y="2606040"/>
            <a:ext cx="2011680" cy="530352"/>
          </a:xfrm>
          <a:prstGeom prst="roundRect">
            <a:avLst>
              <a:gd name="adj" fmla="val 10345"/>
            </a:avLst>
          </a:prstGeom>
          <a:solidFill>
            <a:srgbClr val="F97316">
              <a:alpha val="85000"/>
            </a:srgbClr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84848" y="2660904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only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852160" y="3191256"/>
            <a:ext cx="0" cy="91440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3300984"/>
            <a:ext cx="18288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3810">
            <a:solidFill>
              <a:srgbClr val="94A3B8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919472" y="3355848"/>
            <a:ext cx="16824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3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1.5 Mbps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784848" y="3300984"/>
            <a:ext cx="2011680" cy="530352"/>
          </a:xfrm>
          <a:prstGeom prst="roundRect">
            <a:avLst>
              <a:gd name="adj" fmla="val 10345"/>
            </a:avLst>
          </a:prstGeom>
          <a:solidFill>
            <a:srgbClr val="DC2626">
              <a:alpha val="85000"/>
            </a:srgbClr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84848" y="3355848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only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852160" y="3886200"/>
            <a:ext cx="0" cy="91440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46320" y="3995928"/>
            <a:ext cx="18288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3810">
            <a:solidFill>
              <a:srgbClr val="94A3B8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919472" y="4050792"/>
            <a:ext cx="16824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3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&lt; 20%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784848" y="3995928"/>
            <a:ext cx="2011680" cy="530352"/>
          </a:xfrm>
          <a:prstGeom prst="roundRect">
            <a:avLst>
              <a:gd name="adj" fmla="val 10345"/>
            </a:avLst>
          </a:prstGeom>
          <a:solidFill>
            <a:srgbClr val="7C3AED">
              <a:alpha val="85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84848" y="405079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only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Content Player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ContentPlayer — the user-facing implementation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39" y="1170432"/>
            <a:ext cx="6863637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ContentPlayer component reads live QoE state from QoEContext and automatically renders the right media element. Switching is seamless and preserves the student's playback position.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920240"/>
            <a:ext cx="27432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810">
            <a:solidFill>
              <a:srgbClr val="94A3B8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920240"/>
            <a:ext cx="2743200" cy="384048"/>
          </a:xfrm>
          <a:prstGeom prst="roundRect">
            <a:avLst>
              <a:gd name="adj" fmla="val 2381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9202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720p / 360p video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3774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2999232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video player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connectivity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64408" y="1920240"/>
            <a:ext cx="27432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810">
            <a:solidFill>
              <a:srgbClr val="94A3B8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64408" y="1920240"/>
            <a:ext cx="2743200" cy="384048"/>
          </a:xfrm>
          <a:prstGeom prst="roundRect">
            <a:avLst>
              <a:gd name="adj" fmla="val 2381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64408" y="19202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only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64408" y="23774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🎵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401568" y="2999232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player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connectivity 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battery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08776" y="1920240"/>
            <a:ext cx="27432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810">
            <a:solidFill>
              <a:srgbClr val="94A3B8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08776" y="1920240"/>
            <a:ext cx="2743200" cy="384048"/>
          </a:xfrm>
          <a:prstGeom prst="roundRect">
            <a:avLst>
              <a:gd name="adj" fmla="val 2381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08776" y="19202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transcript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08776" y="23774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345936" y="2999232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Scrollable text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connectivity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&lt; 1.5 Mbps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" y="4407408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QoEBanner informs the student when a switch occurs and disappears automatically when conditions recover.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Design Decisions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82296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design decision traces back to our Task 2 survey findings.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85039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3810">
            <a:solidFill>
              <a:srgbClr val="94A3B8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335024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350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28930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layout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54533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collapses to bottom nav on small screens. Zero horizontal scroll.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965960"/>
            <a:ext cx="85039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3810">
            <a:solidFill>
              <a:srgbClr val="94A3B8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2066544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0665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202082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visual complexity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27685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Two-colour palette (teal + white/grey). Reduces GPU load on low-end Android devices with limited RAM.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697480"/>
            <a:ext cx="85039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3810">
            <a:solidFill>
              <a:srgbClr val="94A3B8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2798064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7980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275234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state awareness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00837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offline banner on all pages. Downloaded content stays accessible and is visually distinguished.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429000"/>
            <a:ext cx="85039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3810">
            <a:solidFill>
              <a:srgbClr val="94A3B8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3529584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5295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348386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typography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373989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14px minimum font size. WCAG AA contrast on all text.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4160520"/>
            <a:ext cx="85039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3810">
            <a:solidFill>
              <a:srgbClr val="94A3B8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11480" y="4261104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2611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" y="421538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data on load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4400" y="447141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load JSON summaries first. Media is only fetched on explicit user action. 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Screenshots</a:t>
            </a:r>
            <a:endParaRPr lang="en-US" sz="2000" dirty="0"/>
          </a:p>
        </p:txBody>
      </p:sp>
      <p:sp>
        <p:nvSpPr>
          <p:cNvPr id="18" name="Shape 0">
            <a:extLst>
              <a:ext uri="{FF2B5EF4-FFF2-40B4-BE49-F238E27FC236}">
                <a16:creationId xmlns:a16="http://schemas.microsoft.com/office/drawing/2014/main" id="{CA5C732B-F470-B575-6E5C-0BBBB7083B72}"/>
              </a:ext>
            </a:extLst>
          </p:cNvPr>
          <p:cNvSpPr/>
          <p:nvPr/>
        </p:nvSpPr>
        <p:spPr>
          <a:xfrm>
            <a:off x="0" y="12192"/>
            <a:ext cx="9144000" cy="658368"/>
          </a:xfrm>
          <a:prstGeom prst="rect">
            <a:avLst/>
          </a:prstGeom>
          <a:solidFill>
            <a:srgbClr val="132240"/>
          </a:solidFill>
          <a:ln w="12700">
            <a:solidFill>
              <a:srgbClr val="132240"/>
            </a:solidFill>
            <a:prstDash val="solid"/>
          </a:ln>
        </p:spPr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B0C2A335-06F9-1736-C926-E38CB1B7CBD9}"/>
              </a:ext>
            </a:extLst>
          </p:cNvPr>
          <p:cNvSpPr/>
          <p:nvPr/>
        </p:nvSpPr>
        <p:spPr>
          <a:xfrm>
            <a:off x="320040" y="67056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Screenshots: Instructor Dashboard</a:t>
            </a:r>
            <a:endParaRPr lang="en-US" sz="20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696A2F3-4901-2F5F-EBEB-E3A6A1D3FE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70560"/>
            <a:ext cx="9144000" cy="428098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EC71BE-054C-852C-8B54-76CEE834E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0DF39F67-7FD6-6B98-CAC6-7D2BA602FF8D}"/>
              </a:ext>
            </a:extLst>
          </p:cNvPr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Screenshots</a:t>
            </a:r>
            <a:endParaRPr lang="en-US" sz="2000" dirty="0"/>
          </a:p>
        </p:txBody>
      </p:sp>
      <p:sp>
        <p:nvSpPr>
          <p:cNvPr id="18" name="Shape 0">
            <a:extLst>
              <a:ext uri="{FF2B5EF4-FFF2-40B4-BE49-F238E27FC236}">
                <a16:creationId xmlns:a16="http://schemas.microsoft.com/office/drawing/2014/main" id="{7E804088-892E-F833-D5BC-E2BCEE42B3F6}"/>
              </a:ext>
            </a:extLst>
          </p:cNvPr>
          <p:cNvSpPr/>
          <p:nvPr/>
        </p:nvSpPr>
        <p:spPr>
          <a:xfrm>
            <a:off x="0" y="12192"/>
            <a:ext cx="9144000" cy="658368"/>
          </a:xfrm>
          <a:prstGeom prst="rect">
            <a:avLst/>
          </a:prstGeom>
          <a:solidFill>
            <a:srgbClr val="132240"/>
          </a:solidFill>
          <a:ln w="12700">
            <a:solidFill>
              <a:srgbClr val="132240"/>
            </a:solidFill>
            <a:prstDash val="solid"/>
          </a:ln>
        </p:spPr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B8250A2D-4D41-D9E3-0377-09255DC60544}"/>
              </a:ext>
            </a:extLst>
          </p:cNvPr>
          <p:cNvSpPr/>
          <p:nvPr/>
        </p:nvSpPr>
        <p:spPr>
          <a:xfrm>
            <a:off x="320040" y="67056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Screenshots: Instructor Course Creation Screen</a:t>
            </a:r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764745-366D-0131-624A-562C41252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8368"/>
            <a:ext cx="9144000" cy="4398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5561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5A6996-8021-ADFF-C368-2CE6C01A0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313A2D16-9DAD-7A49-41AA-578375E9D9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658368"/>
            <a:ext cx="9143999" cy="4652962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35089FAD-66BA-AA55-0073-F1E7115D9AFE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32240"/>
          </a:solidFill>
          <a:ln w="12700">
            <a:solidFill>
              <a:srgbClr val="132240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D841027-500D-B9DD-37DB-40AF282FF298}"/>
              </a:ext>
            </a:extLst>
          </p:cNvPr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Screenshots: Student Dashboard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7710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6C4B35-8DB0-F3A3-C6B2-8DD77B0E0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FFF290E-A615-9FBF-3534-BAECB10F6879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32240"/>
          </a:solidFill>
          <a:ln w="12700">
            <a:solidFill>
              <a:srgbClr val="132240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EF069F7-826D-DFCE-BAF5-B15FD9BD0EAB}"/>
              </a:ext>
            </a:extLst>
          </p:cNvPr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Screenshots: Admin Dashboard</a:t>
            </a:r>
            <a:endParaRPr lang="en-US" sz="20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2086A2E-192E-EAE5-4620-83ACC51476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0760"/>
            <a:ext cx="9144000" cy="4390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498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Resolutions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60520" cy="274320"/>
          </a:xfrm>
          <a:prstGeom prst="roundRect">
            <a:avLst>
              <a:gd name="adj" fmla="val 13333"/>
            </a:avLst>
          </a:prstGeom>
          <a:solidFill>
            <a:srgbClr val="132240"/>
          </a:solidFill>
          <a:ln w="12700">
            <a:solidFill>
              <a:srgbClr val="1322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7724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17720" y="777240"/>
            <a:ext cx="4206240" cy="274320"/>
          </a:xfrm>
          <a:prstGeom prst="roundRect">
            <a:avLst>
              <a:gd name="adj" fmla="val 13333"/>
            </a:avLst>
          </a:prstGeom>
          <a:solidFill>
            <a:srgbClr val="132240"/>
          </a:solidFill>
          <a:ln w="12700">
            <a:solidFill>
              <a:srgbClr val="1322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17720" y="7772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solved it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115568"/>
            <a:ext cx="416052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188720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monitoring overhead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1115568"/>
            <a:ext cx="420624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0016" y="1170432"/>
            <a:ext cx="4041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+ active hybrid — navigator.connection costs nothing; speed test is only run every 30s 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865376"/>
            <a:ext cx="4160520" cy="658368"/>
          </a:xfrm>
          <a:prstGeom prst="rect">
            <a:avLst/>
          </a:prstGeom>
          <a:solidFill>
            <a:srgbClr val="F0F4F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938528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adaptation, no server wait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17720" y="1865376"/>
            <a:ext cx="4206240" cy="658368"/>
          </a:xfrm>
          <a:prstGeom prst="rect">
            <a:avLst/>
          </a:prstGeom>
          <a:solidFill>
            <a:srgbClr val="F0F4F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0016" y="1920240"/>
            <a:ext cx="4041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QoE engine is 100% client-side. Decisions made in milliseconds — no round-trip when connection is already degraded.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615184"/>
            <a:ext cx="416052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688336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downloads for PDFs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17720" y="2615184"/>
            <a:ext cx="420624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0016" y="2670048"/>
            <a:ext cx="4041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buttons on all content pages. Full IndexedDB video/audio caching deferred to Task 6.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456432"/>
            <a:ext cx="416052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3529584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design across 3 roles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36008" y="3444407"/>
            <a:ext cx="420624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18304" y="3493008"/>
            <a:ext cx="4041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RoleLayout + single Tailwind config: one source of truth for spacing, colour, and typography.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&amp; Next Steps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delivered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47472" y="1188720"/>
            <a:ext cx="237744" cy="23774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1887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76656" y="118872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Tailwind CSS full frontend codebase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7472" y="1737360"/>
            <a:ext cx="237744" cy="23774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7373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76656" y="173736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qoeMonitor.js — PassiveMonitor + QoEEngine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7472" y="2286000"/>
            <a:ext cx="237744" cy="23774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22860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76656" y="228600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ContentPlayer + QoEBanner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47472" y="28346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9184" y="2798064"/>
            <a:ext cx="237744" cy="23774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2065" y="279706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8368" y="2798064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 + component hierarchy document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09160" y="804672"/>
            <a:ext cx="0" cy="4023360"/>
          </a:xfrm>
          <a:prstGeom prst="line">
            <a:avLst/>
          </a:prstGeom>
          <a:noFill/>
          <a:ln w="6350">
            <a:solidFill>
              <a:srgbClr val="94A3B8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4892040" y="804672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6 — Database &amp; Backend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919472" y="1188720"/>
            <a:ext cx="219456" cy="21945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11887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230368" y="1188720"/>
            <a:ext cx="3584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full DB schema (PostgreSQL / Supabase)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19472" y="1709928"/>
            <a:ext cx="219456" cy="21945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19472" y="17099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230368" y="1709928"/>
            <a:ext cx="3584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REST API (Node.js/Express or Django)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919472" y="2231136"/>
            <a:ext cx="219456" cy="21945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9472" y="22311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230368" y="2231136"/>
            <a:ext cx="3584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all mock APIs with real endpoints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19472" y="2752344"/>
            <a:ext cx="219456" cy="21945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19472" y="275234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230368" y="2752344"/>
            <a:ext cx="3584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/api/speedtest.bin for active QoE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919472" y="3273552"/>
            <a:ext cx="219456" cy="21945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19472" y="32735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230368" y="3273552"/>
            <a:ext cx="3584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WebSocket QoE telemetry to server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919472" y="3794760"/>
            <a:ext cx="219456" cy="21945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19472" y="37947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230368" y="3794760"/>
            <a:ext cx="3584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IndexedDB offline video + audio caching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919472" y="4315968"/>
            <a:ext cx="219456" cy="21945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19472" y="43159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230368" y="4315968"/>
            <a:ext cx="3584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on real 2G / 3G / 4G networks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 complete.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BrainPath is live.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242316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1322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1460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dashboards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242316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1322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251460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2606040" y="32004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built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242316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1322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51460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754880" y="32004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QoE rules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03720" y="242316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1322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03720" y="251460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903720" y="32004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 modes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16052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Task 6 — Database Design &amp; Backend Implementation (Weeks 11–12)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61772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1319</Words>
  <Application>Microsoft Office PowerPoint</Application>
  <PresentationFormat>On-screen Show (16:9)</PresentationFormat>
  <Paragraphs>201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Fontebo Achah</cp:lastModifiedBy>
  <cp:revision>2</cp:revision>
  <dcterms:created xsi:type="dcterms:W3CDTF">2026-06-09T11:39:29Z</dcterms:created>
  <dcterms:modified xsi:type="dcterms:W3CDTF">2026-06-09T13:06:49Z</dcterms:modified>
</cp:coreProperties>
</file>