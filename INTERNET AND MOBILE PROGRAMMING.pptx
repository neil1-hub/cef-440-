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4/7/2026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AD56C-D434-04FA-6074-931A2E184C2C}"/>
              </a:ext>
            </a:extLst>
          </p:cNvPr>
          <p:cNvSpPr>
            <a:spLocks noGrp="1"/>
          </p:cNvSpPr>
          <p:nvPr>
            <p:ph type="ctrTitle"/>
          </p:nvPr>
        </p:nvSpPr>
        <p:spPr>
          <a:xfrm>
            <a:off x="1741714" y="1380068"/>
            <a:ext cx="9761309" cy="2616199"/>
          </a:xfrm>
        </p:spPr>
        <p:txBody>
          <a:bodyPr/>
          <a:lstStyle/>
          <a:p>
            <a:r>
              <a:rPr lang="en-US" dirty="0"/>
              <a:t>INTERNET AND MOBILE PROGRAMMING </a:t>
            </a:r>
          </a:p>
        </p:txBody>
      </p:sp>
      <p:sp>
        <p:nvSpPr>
          <p:cNvPr id="3" name="Subtitle 2">
            <a:extLst>
              <a:ext uri="{FF2B5EF4-FFF2-40B4-BE49-F238E27FC236}">
                <a16:creationId xmlns:a16="http://schemas.microsoft.com/office/drawing/2014/main" id="{16416E3D-BDB3-5321-2E01-09C6FFC9EAB1}"/>
              </a:ext>
            </a:extLst>
          </p:cNvPr>
          <p:cNvSpPr>
            <a:spLocks noGrp="1"/>
          </p:cNvSpPr>
          <p:nvPr>
            <p:ph type="subTitle" idx="1"/>
          </p:nvPr>
        </p:nvSpPr>
        <p:spPr/>
        <p:txBody>
          <a:bodyPr/>
          <a:lstStyle/>
          <a:p>
            <a:r>
              <a:rPr lang="en-US" dirty="0"/>
              <a:t>BY Dr Valery </a:t>
            </a:r>
          </a:p>
        </p:txBody>
      </p:sp>
    </p:spTree>
    <p:extLst>
      <p:ext uri="{BB962C8B-B14F-4D97-AF65-F5344CB8AC3E}">
        <p14:creationId xmlns:p14="http://schemas.microsoft.com/office/powerpoint/2010/main" val="26891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A337-2403-E486-8B96-FAC07060DA2D}"/>
              </a:ext>
            </a:extLst>
          </p:cNvPr>
          <p:cNvSpPr>
            <a:spLocks noGrp="1"/>
          </p:cNvSpPr>
          <p:nvPr>
            <p:ph type="title"/>
          </p:nvPr>
        </p:nvSpPr>
        <p:spPr/>
        <p:txBody>
          <a:bodyPr/>
          <a:lstStyle/>
          <a:p>
            <a:r>
              <a:rPr lang="en-US" dirty="0"/>
              <a:t>Introduction to mobile applications</a:t>
            </a:r>
          </a:p>
        </p:txBody>
      </p:sp>
      <p:sp>
        <p:nvSpPr>
          <p:cNvPr id="3" name="Content Placeholder 2">
            <a:extLst>
              <a:ext uri="{FF2B5EF4-FFF2-40B4-BE49-F238E27FC236}">
                <a16:creationId xmlns:a16="http://schemas.microsoft.com/office/drawing/2014/main" id="{D13A78FC-8DE5-B465-22E7-0A08913BBF2F}"/>
              </a:ext>
            </a:extLst>
          </p:cNvPr>
          <p:cNvSpPr>
            <a:spLocks noGrp="1"/>
          </p:cNvSpPr>
          <p:nvPr>
            <p:ph idx="1"/>
          </p:nvPr>
        </p:nvSpPr>
        <p:spPr/>
        <p:txBody>
          <a:bodyPr/>
          <a:lstStyle/>
          <a:p>
            <a:r>
              <a:rPr lang="en-US" dirty="0"/>
              <a:t>The rapid growth of smartphones has led to an increase in mobile application development. Mobile applications are now essential in education, business, health, communication, and entertainment. This report reviews major types of mobile applications, mobile programming languages, development frameworks, architectures, requirement engineering processes, and cost estimation techniques used in mobile development.</a:t>
            </a:r>
          </a:p>
        </p:txBody>
      </p:sp>
    </p:spTree>
    <p:extLst>
      <p:ext uri="{BB962C8B-B14F-4D97-AF65-F5344CB8AC3E}">
        <p14:creationId xmlns:p14="http://schemas.microsoft.com/office/powerpoint/2010/main" val="3728716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2A66-7976-9006-9E75-4CCCD73DEF29}"/>
              </a:ext>
            </a:extLst>
          </p:cNvPr>
          <p:cNvSpPr>
            <a:spLocks noGrp="1"/>
          </p:cNvSpPr>
          <p:nvPr>
            <p:ph type="title"/>
          </p:nvPr>
        </p:nvSpPr>
        <p:spPr/>
        <p:txBody>
          <a:bodyPr/>
          <a:lstStyle/>
          <a:p>
            <a:r>
              <a:rPr lang="en-US" dirty="0"/>
              <a:t>Introduction to Mobile Application</a:t>
            </a:r>
          </a:p>
        </p:txBody>
      </p:sp>
      <p:sp>
        <p:nvSpPr>
          <p:cNvPr id="3" name="Content Placeholder 2">
            <a:extLst>
              <a:ext uri="{FF2B5EF4-FFF2-40B4-BE49-F238E27FC236}">
                <a16:creationId xmlns:a16="http://schemas.microsoft.com/office/drawing/2014/main" id="{50EF8FB8-3897-55F6-6C00-975554BE3CD0}"/>
              </a:ext>
            </a:extLst>
          </p:cNvPr>
          <p:cNvSpPr>
            <a:spLocks noGrp="1"/>
          </p:cNvSpPr>
          <p:nvPr>
            <p:ph idx="1"/>
          </p:nvPr>
        </p:nvSpPr>
        <p:spPr/>
        <p:txBody>
          <a:bodyPr/>
          <a:lstStyle/>
          <a:p>
            <a:r>
              <a:rPr lang="en-US" dirty="0"/>
              <a:t>A </a:t>
            </a:r>
            <a:r>
              <a:rPr lang="en-US" b="1" dirty="0"/>
              <a:t>mobile application (mobile app)</a:t>
            </a:r>
            <a:r>
              <a:rPr lang="en-US" dirty="0"/>
              <a:t> is a software program designed to run on mobile devices such as smartphones and tablets. These applications can be installed from app stores or accessed through web browsers and are designed to provide specific services such as communication, entertainment, education, or business functions. Fore example (WhatsApp).</a:t>
            </a:r>
          </a:p>
        </p:txBody>
      </p:sp>
    </p:spTree>
    <p:extLst>
      <p:ext uri="{BB962C8B-B14F-4D97-AF65-F5344CB8AC3E}">
        <p14:creationId xmlns:p14="http://schemas.microsoft.com/office/powerpoint/2010/main" val="3920006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E35D-446D-0C38-15F4-A6BB64E97F51}"/>
              </a:ext>
            </a:extLst>
          </p:cNvPr>
          <p:cNvSpPr>
            <a:spLocks noGrp="1"/>
          </p:cNvSpPr>
          <p:nvPr>
            <p:ph type="title"/>
          </p:nvPr>
        </p:nvSpPr>
        <p:spPr/>
        <p:txBody>
          <a:bodyPr/>
          <a:lstStyle/>
          <a:p>
            <a:r>
              <a:rPr lang="en-US" dirty="0"/>
              <a:t>Types Of Mobile Applications</a:t>
            </a:r>
          </a:p>
        </p:txBody>
      </p:sp>
      <p:sp>
        <p:nvSpPr>
          <p:cNvPr id="3" name="Content Placeholder 2">
            <a:extLst>
              <a:ext uri="{FF2B5EF4-FFF2-40B4-BE49-F238E27FC236}">
                <a16:creationId xmlns:a16="http://schemas.microsoft.com/office/drawing/2014/main" id="{0F343DA7-DBC0-85C1-BB6A-BC7EAAF185B3}"/>
              </a:ext>
            </a:extLst>
          </p:cNvPr>
          <p:cNvSpPr>
            <a:spLocks noGrp="1"/>
          </p:cNvSpPr>
          <p:nvPr>
            <p:ph idx="1"/>
          </p:nvPr>
        </p:nvSpPr>
        <p:spPr/>
        <p:txBody>
          <a:bodyPr/>
          <a:lstStyle/>
          <a:p>
            <a:r>
              <a:rPr lang="en-US" dirty="0"/>
              <a:t>Mobile applications have been classified into three main categories over time, this Categories which are:</a:t>
            </a:r>
          </a:p>
          <a:p>
            <a:r>
              <a:rPr lang="en-US" b="1" dirty="0"/>
              <a:t>Native Applications</a:t>
            </a:r>
          </a:p>
          <a:p>
            <a:r>
              <a:rPr lang="en-US" b="1" dirty="0"/>
              <a:t>Progressive Web Applications (PWA)</a:t>
            </a:r>
          </a:p>
          <a:p>
            <a:r>
              <a:rPr lang="en-US" b="1" dirty="0"/>
              <a:t>Hybrid Applications</a:t>
            </a:r>
          </a:p>
          <a:p>
            <a:endParaRPr lang="en-US" dirty="0"/>
          </a:p>
        </p:txBody>
      </p:sp>
    </p:spTree>
    <p:extLst>
      <p:ext uri="{BB962C8B-B14F-4D97-AF65-F5344CB8AC3E}">
        <p14:creationId xmlns:p14="http://schemas.microsoft.com/office/powerpoint/2010/main" val="3307293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DECD3-92DC-0920-4FA5-1C703FB5A2E5}"/>
              </a:ext>
            </a:extLst>
          </p:cNvPr>
          <p:cNvSpPr>
            <a:spLocks noGrp="1"/>
          </p:cNvSpPr>
          <p:nvPr>
            <p:ph type="title"/>
          </p:nvPr>
        </p:nvSpPr>
        <p:spPr>
          <a:xfrm>
            <a:off x="1484311" y="685800"/>
            <a:ext cx="10018713" cy="1271337"/>
          </a:xfrm>
        </p:spPr>
        <p:txBody>
          <a:bodyPr/>
          <a:lstStyle/>
          <a:p>
            <a:r>
              <a:rPr lang="en-US" b="1" dirty="0"/>
              <a:t>NATIVE APPLICATIONS</a:t>
            </a:r>
          </a:p>
        </p:txBody>
      </p:sp>
      <p:sp>
        <p:nvSpPr>
          <p:cNvPr id="3" name="Content Placeholder 2">
            <a:extLst>
              <a:ext uri="{FF2B5EF4-FFF2-40B4-BE49-F238E27FC236}">
                <a16:creationId xmlns:a16="http://schemas.microsoft.com/office/drawing/2014/main" id="{1D7BAF6F-944C-C7A4-33DA-D1BF55631B31}"/>
              </a:ext>
            </a:extLst>
          </p:cNvPr>
          <p:cNvSpPr>
            <a:spLocks noGrp="1"/>
          </p:cNvSpPr>
          <p:nvPr>
            <p:ph idx="1"/>
          </p:nvPr>
        </p:nvSpPr>
        <p:spPr>
          <a:xfrm>
            <a:off x="1484310" y="1957137"/>
            <a:ext cx="10018713" cy="4215063"/>
          </a:xfrm>
        </p:spPr>
        <p:txBody>
          <a:bodyPr>
            <a:normAutofit fontScale="92500" lnSpcReduction="20000"/>
          </a:bodyPr>
          <a:lstStyle/>
          <a:p>
            <a:pPr marL="0" indent="0">
              <a:buNone/>
            </a:pPr>
            <a:r>
              <a:rPr lang="en-US" dirty="0"/>
              <a:t>This are applications which are solely developed specifically for one operating system such as Android or IOS.</a:t>
            </a:r>
          </a:p>
          <a:p>
            <a:pPr marL="0" indent="0">
              <a:buNone/>
            </a:pPr>
            <a:r>
              <a:rPr lang="en-US" b="1" dirty="0"/>
              <a:t>Characteristics:</a:t>
            </a:r>
          </a:p>
          <a:p>
            <a:pPr>
              <a:lnSpc>
                <a:spcPct val="110000"/>
              </a:lnSpc>
            </a:pPr>
            <a:r>
              <a:rPr lang="en-US" dirty="0"/>
              <a:t>Build using platform specific Languages</a:t>
            </a:r>
          </a:p>
          <a:p>
            <a:pPr>
              <a:lnSpc>
                <a:spcPct val="110000"/>
              </a:lnSpc>
            </a:pPr>
            <a:r>
              <a:rPr lang="en-US" dirty="0"/>
              <a:t>Installed through app stores </a:t>
            </a:r>
          </a:p>
          <a:p>
            <a:pPr>
              <a:lnSpc>
                <a:spcPct val="110000"/>
              </a:lnSpc>
            </a:pPr>
            <a:r>
              <a:rPr lang="en-US" dirty="0"/>
              <a:t>Highly performant </a:t>
            </a:r>
          </a:p>
          <a:p>
            <a:pPr>
              <a:lnSpc>
                <a:spcPct val="110000"/>
              </a:lnSpc>
            </a:pPr>
            <a:r>
              <a:rPr lang="en-US" dirty="0"/>
              <a:t>Full access to device Hardware </a:t>
            </a:r>
          </a:p>
          <a:p>
            <a:pPr marL="0" indent="0">
              <a:buNone/>
            </a:pPr>
            <a:r>
              <a:rPr lang="en-US" b="1" dirty="0"/>
              <a:t>Advantages:</a:t>
            </a:r>
          </a:p>
          <a:p>
            <a:r>
              <a:rPr lang="en-US" dirty="0"/>
              <a:t>Very fast performance </a:t>
            </a:r>
          </a:p>
          <a:p>
            <a:r>
              <a:rPr lang="en-US" dirty="0"/>
              <a:t>Full device integration </a:t>
            </a:r>
          </a:p>
          <a:p>
            <a:endParaRPr lang="en-US" dirty="0"/>
          </a:p>
          <a:p>
            <a:pPr marL="0" indent="0">
              <a:buNone/>
            </a:pPr>
            <a:endParaRPr lang="en-US" b="1" dirty="0"/>
          </a:p>
        </p:txBody>
      </p:sp>
    </p:spTree>
    <p:extLst>
      <p:ext uri="{BB962C8B-B14F-4D97-AF65-F5344CB8AC3E}">
        <p14:creationId xmlns:p14="http://schemas.microsoft.com/office/powerpoint/2010/main" val="367442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EAF57-B43B-D9F2-9A6E-E18A1A79F0D7}"/>
              </a:ext>
            </a:extLst>
          </p:cNvPr>
          <p:cNvSpPr>
            <a:spLocks noGrp="1"/>
          </p:cNvSpPr>
          <p:nvPr>
            <p:ph type="title"/>
          </p:nvPr>
        </p:nvSpPr>
        <p:spPr>
          <a:xfrm>
            <a:off x="1484311" y="685801"/>
            <a:ext cx="10018713" cy="1175084"/>
          </a:xfrm>
        </p:spPr>
        <p:txBody>
          <a:bodyPr/>
          <a:lstStyle/>
          <a:p>
            <a:r>
              <a:rPr lang="en-US" b="1" dirty="0"/>
              <a:t>NATIVE APPLICATIONS</a:t>
            </a:r>
          </a:p>
        </p:txBody>
      </p:sp>
      <p:sp>
        <p:nvSpPr>
          <p:cNvPr id="3" name="Content Placeholder 2">
            <a:extLst>
              <a:ext uri="{FF2B5EF4-FFF2-40B4-BE49-F238E27FC236}">
                <a16:creationId xmlns:a16="http://schemas.microsoft.com/office/drawing/2014/main" id="{C01FD075-6881-9D53-59D4-1877192A0F9B}"/>
              </a:ext>
            </a:extLst>
          </p:cNvPr>
          <p:cNvSpPr>
            <a:spLocks noGrp="1"/>
          </p:cNvSpPr>
          <p:nvPr>
            <p:ph idx="1"/>
          </p:nvPr>
        </p:nvSpPr>
        <p:spPr>
          <a:xfrm>
            <a:off x="1484310" y="1860885"/>
            <a:ext cx="10018713" cy="3930315"/>
          </a:xfrm>
        </p:spPr>
        <p:txBody>
          <a:bodyPr>
            <a:normAutofit fontScale="92500" lnSpcReduction="20000"/>
          </a:bodyPr>
          <a:lstStyle/>
          <a:p>
            <a:pPr marL="0" indent="0">
              <a:buNone/>
            </a:pPr>
            <a:r>
              <a:rPr lang="en-US" b="1" dirty="0"/>
              <a:t>Disadvantages:</a:t>
            </a:r>
          </a:p>
          <a:p>
            <a:r>
              <a:rPr lang="en-US" dirty="0"/>
              <a:t>Expensive to develop </a:t>
            </a:r>
          </a:p>
          <a:p>
            <a:r>
              <a:rPr lang="en-US" dirty="0"/>
              <a:t>Requires separate codebases</a:t>
            </a:r>
          </a:p>
          <a:p>
            <a:r>
              <a:rPr lang="en-US" dirty="0"/>
              <a:t>Maintenance cost is high</a:t>
            </a:r>
          </a:p>
          <a:p>
            <a:pPr marL="0" indent="0">
              <a:buNone/>
            </a:pPr>
            <a:r>
              <a:rPr lang="en-US" b="1" dirty="0"/>
              <a:t>Technologies:</a:t>
            </a:r>
          </a:p>
          <a:p>
            <a:r>
              <a:rPr lang="en-US" dirty="0"/>
              <a:t>Android –java, Kotlin</a:t>
            </a:r>
          </a:p>
          <a:p>
            <a:r>
              <a:rPr lang="en-US" dirty="0"/>
              <a:t>IOS – swift, Objective-C</a:t>
            </a:r>
          </a:p>
          <a:p>
            <a:pPr marL="0" indent="0">
              <a:buNone/>
            </a:pPr>
            <a:r>
              <a:rPr lang="en-US" b="1" dirty="0"/>
              <a:t>Examples:</a:t>
            </a:r>
          </a:p>
          <a:p>
            <a:pPr marL="0" indent="0">
              <a:buNone/>
            </a:pPr>
            <a:r>
              <a:rPr lang="en-US" b="1" dirty="0"/>
              <a:t>WhatsApp, Facebook, Instagram</a:t>
            </a:r>
          </a:p>
          <a:p>
            <a:pPr marL="0" indent="0">
              <a:buNone/>
            </a:pPr>
            <a:endParaRPr lang="en-US" dirty="0"/>
          </a:p>
        </p:txBody>
      </p:sp>
    </p:spTree>
    <p:extLst>
      <p:ext uri="{BB962C8B-B14F-4D97-AF65-F5344CB8AC3E}">
        <p14:creationId xmlns:p14="http://schemas.microsoft.com/office/powerpoint/2010/main" val="419570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61F4-979A-9CAD-2972-8CAC116382B6}"/>
              </a:ext>
            </a:extLst>
          </p:cNvPr>
          <p:cNvSpPr>
            <a:spLocks noGrp="1"/>
          </p:cNvSpPr>
          <p:nvPr>
            <p:ph type="title"/>
          </p:nvPr>
        </p:nvSpPr>
        <p:spPr>
          <a:xfrm>
            <a:off x="1484311" y="685800"/>
            <a:ext cx="10018713" cy="950495"/>
          </a:xfrm>
        </p:spPr>
        <p:txBody>
          <a:bodyPr/>
          <a:lstStyle/>
          <a:p>
            <a:r>
              <a:rPr lang="en-US" b="1" dirty="0"/>
              <a:t>Progressive Web Applications (PWA)</a:t>
            </a:r>
          </a:p>
        </p:txBody>
      </p:sp>
      <p:sp>
        <p:nvSpPr>
          <p:cNvPr id="3" name="Content Placeholder 2">
            <a:extLst>
              <a:ext uri="{FF2B5EF4-FFF2-40B4-BE49-F238E27FC236}">
                <a16:creationId xmlns:a16="http://schemas.microsoft.com/office/drawing/2014/main" id="{E4C5A878-2582-70A9-CE95-0D8FBCDC1DF9}"/>
              </a:ext>
            </a:extLst>
          </p:cNvPr>
          <p:cNvSpPr>
            <a:spLocks noGrp="1"/>
          </p:cNvSpPr>
          <p:nvPr>
            <p:ph idx="1"/>
          </p:nvPr>
        </p:nvSpPr>
        <p:spPr>
          <a:xfrm>
            <a:off x="1484310" y="1636295"/>
            <a:ext cx="10018713" cy="4154905"/>
          </a:xfrm>
        </p:spPr>
        <p:txBody>
          <a:bodyPr>
            <a:normAutofit fontScale="92500" lnSpcReduction="10000"/>
          </a:bodyPr>
          <a:lstStyle/>
          <a:p>
            <a:pPr marL="0" indent="0">
              <a:buNone/>
            </a:pPr>
            <a:r>
              <a:rPr lang="en-US" dirty="0"/>
              <a:t>PWAs are web applications that behave like mobile apps but run in browsers.</a:t>
            </a:r>
          </a:p>
          <a:p>
            <a:pPr marL="0" indent="0">
              <a:buNone/>
            </a:pPr>
            <a:r>
              <a:rPr lang="en-US" b="1" dirty="0"/>
              <a:t>Characteristics:</a:t>
            </a:r>
          </a:p>
          <a:p>
            <a:r>
              <a:rPr lang="en-US" dirty="0"/>
              <a:t>Build using web technologies</a:t>
            </a:r>
          </a:p>
          <a:p>
            <a:r>
              <a:rPr lang="en-US" dirty="0"/>
              <a:t>No installation required </a:t>
            </a:r>
          </a:p>
          <a:p>
            <a:r>
              <a:rPr lang="en-US" dirty="0"/>
              <a:t>Cross Platform</a:t>
            </a:r>
          </a:p>
          <a:p>
            <a:pPr marL="0" indent="0">
              <a:buNone/>
            </a:pPr>
            <a:r>
              <a:rPr lang="en-US" b="1" dirty="0"/>
              <a:t>Advantages:</a:t>
            </a:r>
          </a:p>
          <a:p>
            <a:r>
              <a:rPr lang="en-US" dirty="0"/>
              <a:t>Relatively cheaper to develop</a:t>
            </a:r>
          </a:p>
          <a:p>
            <a:r>
              <a:rPr lang="en-US" dirty="0"/>
              <a:t>Fast deployment</a:t>
            </a:r>
          </a:p>
          <a:p>
            <a:r>
              <a:rPr lang="en-US" dirty="0"/>
              <a:t>No app store approval needed.</a:t>
            </a:r>
          </a:p>
        </p:txBody>
      </p:sp>
    </p:spTree>
    <p:extLst>
      <p:ext uri="{BB962C8B-B14F-4D97-AF65-F5344CB8AC3E}">
        <p14:creationId xmlns:p14="http://schemas.microsoft.com/office/powerpoint/2010/main" val="2823041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E2A9-6EED-8910-AEC3-1846B6F58972}"/>
              </a:ext>
            </a:extLst>
          </p:cNvPr>
          <p:cNvSpPr>
            <a:spLocks noGrp="1"/>
          </p:cNvSpPr>
          <p:nvPr>
            <p:ph type="title"/>
          </p:nvPr>
        </p:nvSpPr>
        <p:spPr>
          <a:xfrm>
            <a:off x="1484311" y="685800"/>
            <a:ext cx="10018713" cy="1303421"/>
          </a:xfrm>
        </p:spPr>
        <p:txBody>
          <a:bodyPr/>
          <a:lstStyle/>
          <a:p>
            <a:r>
              <a:rPr lang="en-US" b="1" dirty="0"/>
              <a:t>Progressive Web Applications (PWA)</a:t>
            </a:r>
          </a:p>
        </p:txBody>
      </p:sp>
      <p:sp>
        <p:nvSpPr>
          <p:cNvPr id="3" name="Content Placeholder 2">
            <a:extLst>
              <a:ext uri="{FF2B5EF4-FFF2-40B4-BE49-F238E27FC236}">
                <a16:creationId xmlns:a16="http://schemas.microsoft.com/office/drawing/2014/main" id="{66616FFB-6422-50FC-67FC-66CF77514E2F}"/>
              </a:ext>
            </a:extLst>
          </p:cNvPr>
          <p:cNvSpPr>
            <a:spLocks noGrp="1"/>
          </p:cNvSpPr>
          <p:nvPr>
            <p:ph idx="1"/>
          </p:nvPr>
        </p:nvSpPr>
        <p:spPr>
          <a:xfrm>
            <a:off x="1484310" y="2197769"/>
            <a:ext cx="10018713" cy="3593432"/>
          </a:xfrm>
        </p:spPr>
        <p:txBody>
          <a:bodyPr>
            <a:normAutofit fontScale="85000" lnSpcReduction="20000"/>
          </a:bodyPr>
          <a:lstStyle/>
          <a:p>
            <a:pPr marL="0" indent="0">
              <a:buNone/>
            </a:pPr>
            <a:r>
              <a:rPr lang="en-US" b="1" dirty="0"/>
              <a:t>Disadvantages:</a:t>
            </a:r>
          </a:p>
          <a:p>
            <a:r>
              <a:rPr lang="en-US" dirty="0"/>
              <a:t>Limited Hardware access.</a:t>
            </a:r>
          </a:p>
          <a:p>
            <a:r>
              <a:rPr lang="en-US" dirty="0"/>
              <a:t>Lower performance than Native apps</a:t>
            </a:r>
          </a:p>
          <a:p>
            <a:pPr marL="0" indent="0">
              <a:buNone/>
            </a:pPr>
            <a:r>
              <a:rPr lang="en-US" b="1" dirty="0"/>
              <a:t>Technologies</a:t>
            </a:r>
            <a:r>
              <a:rPr lang="en-US" dirty="0"/>
              <a:t>:</a:t>
            </a:r>
          </a:p>
          <a:p>
            <a:r>
              <a:rPr lang="en-US" dirty="0"/>
              <a:t>HTML</a:t>
            </a:r>
          </a:p>
          <a:p>
            <a:r>
              <a:rPr lang="en-US" dirty="0"/>
              <a:t>CSS</a:t>
            </a:r>
          </a:p>
          <a:p>
            <a:r>
              <a:rPr lang="en-US" dirty="0"/>
              <a:t>JavaScript</a:t>
            </a:r>
          </a:p>
          <a:p>
            <a:pPr marL="0" indent="0">
              <a:buNone/>
            </a:pPr>
            <a:r>
              <a:rPr lang="en-US" b="1" dirty="0"/>
              <a:t>Example:</a:t>
            </a:r>
          </a:p>
          <a:p>
            <a:r>
              <a:rPr lang="en-US" dirty="0"/>
              <a:t>Twitter Lite, Starbucks PWA, Pinterest PWA</a:t>
            </a:r>
          </a:p>
        </p:txBody>
      </p:sp>
    </p:spTree>
    <p:extLst>
      <p:ext uri="{BB962C8B-B14F-4D97-AF65-F5344CB8AC3E}">
        <p14:creationId xmlns:p14="http://schemas.microsoft.com/office/powerpoint/2010/main" val="320195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1207-8ED2-5219-FF01-CD3A3AABC8E8}"/>
              </a:ext>
            </a:extLst>
          </p:cNvPr>
          <p:cNvSpPr>
            <a:spLocks noGrp="1"/>
          </p:cNvSpPr>
          <p:nvPr>
            <p:ph type="title"/>
          </p:nvPr>
        </p:nvSpPr>
        <p:spPr>
          <a:xfrm>
            <a:off x="1484311" y="685800"/>
            <a:ext cx="10018713" cy="918411"/>
          </a:xfrm>
        </p:spPr>
        <p:txBody>
          <a:bodyPr/>
          <a:lstStyle/>
          <a:p>
            <a:r>
              <a:rPr lang="en-US" b="1" dirty="0"/>
              <a:t>Hybrid Applications</a:t>
            </a:r>
          </a:p>
        </p:txBody>
      </p:sp>
      <p:sp>
        <p:nvSpPr>
          <p:cNvPr id="3" name="Content Placeholder 2">
            <a:extLst>
              <a:ext uri="{FF2B5EF4-FFF2-40B4-BE49-F238E27FC236}">
                <a16:creationId xmlns:a16="http://schemas.microsoft.com/office/drawing/2014/main" id="{1BE846F9-95F9-7341-5659-704CA1534472}"/>
              </a:ext>
            </a:extLst>
          </p:cNvPr>
          <p:cNvSpPr>
            <a:spLocks noGrp="1"/>
          </p:cNvSpPr>
          <p:nvPr>
            <p:ph idx="1"/>
          </p:nvPr>
        </p:nvSpPr>
        <p:spPr>
          <a:xfrm>
            <a:off x="1484310" y="1604211"/>
            <a:ext cx="10018713" cy="4186989"/>
          </a:xfrm>
        </p:spPr>
        <p:txBody>
          <a:bodyPr>
            <a:normAutofit fontScale="92500" lnSpcReduction="10000"/>
          </a:bodyPr>
          <a:lstStyle/>
          <a:p>
            <a:pPr marL="0" indent="0">
              <a:buNone/>
            </a:pPr>
            <a:r>
              <a:rPr lang="en-US" dirty="0"/>
              <a:t>This apps combine native and web technologies.</a:t>
            </a:r>
          </a:p>
          <a:p>
            <a:pPr marL="0" indent="0">
              <a:buNone/>
            </a:pPr>
            <a:r>
              <a:rPr lang="en-US" b="1" dirty="0"/>
              <a:t>Characteristics:</a:t>
            </a:r>
          </a:p>
          <a:p>
            <a:r>
              <a:rPr lang="en-US" dirty="0"/>
              <a:t>Single Codebase.</a:t>
            </a:r>
          </a:p>
          <a:p>
            <a:r>
              <a:rPr lang="en-US" dirty="0"/>
              <a:t>Run on multiple platforms.</a:t>
            </a:r>
          </a:p>
          <a:p>
            <a:r>
              <a:rPr lang="en-US" dirty="0"/>
              <a:t>Uses web technologies inside native Container.</a:t>
            </a:r>
          </a:p>
          <a:p>
            <a:pPr marL="0" indent="0">
              <a:buNone/>
            </a:pPr>
            <a:r>
              <a:rPr lang="en-US" b="1" dirty="0"/>
              <a:t>Advantages:</a:t>
            </a:r>
          </a:p>
          <a:p>
            <a:r>
              <a:rPr lang="en-US" dirty="0"/>
              <a:t>Relatively lower cost </a:t>
            </a:r>
          </a:p>
          <a:p>
            <a:r>
              <a:rPr lang="en-US" dirty="0"/>
              <a:t>Faster development</a:t>
            </a:r>
          </a:p>
          <a:p>
            <a:r>
              <a:rPr lang="en-US" dirty="0"/>
              <a:t>Cross platform Support.</a:t>
            </a:r>
          </a:p>
        </p:txBody>
      </p:sp>
    </p:spTree>
    <p:extLst>
      <p:ext uri="{BB962C8B-B14F-4D97-AF65-F5344CB8AC3E}">
        <p14:creationId xmlns:p14="http://schemas.microsoft.com/office/powerpoint/2010/main" val="295831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CF6C1-C04A-5735-9241-BD9692C12321}"/>
              </a:ext>
            </a:extLst>
          </p:cNvPr>
          <p:cNvSpPr>
            <a:spLocks noGrp="1"/>
          </p:cNvSpPr>
          <p:nvPr>
            <p:ph type="title"/>
          </p:nvPr>
        </p:nvSpPr>
        <p:spPr>
          <a:xfrm>
            <a:off x="1484311" y="685800"/>
            <a:ext cx="10018713" cy="934453"/>
          </a:xfrm>
        </p:spPr>
        <p:txBody>
          <a:bodyPr/>
          <a:lstStyle/>
          <a:p>
            <a:r>
              <a:rPr lang="en-US" b="1" dirty="0"/>
              <a:t>Hybrid Applications</a:t>
            </a:r>
          </a:p>
        </p:txBody>
      </p:sp>
      <p:sp>
        <p:nvSpPr>
          <p:cNvPr id="3" name="Content Placeholder 2">
            <a:extLst>
              <a:ext uri="{FF2B5EF4-FFF2-40B4-BE49-F238E27FC236}">
                <a16:creationId xmlns:a16="http://schemas.microsoft.com/office/drawing/2014/main" id="{242511A6-9A69-5464-0C1A-D0A56148C15F}"/>
              </a:ext>
            </a:extLst>
          </p:cNvPr>
          <p:cNvSpPr>
            <a:spLocks noGrp="1"/>
          </p:cNvSpPr>
          <p:nvPr>
            <p:ph idx="1"/>
          </p:nvPr>
        </p:nvSpPr>
        <p:spPr>
          <a:xfrm>
            <a:off x="1484310" y="1812758"/>
            <a:ext cx="10018713" cy="4359441"/>
          </a:xfrm>
        </p:spPr>
        <p:txBody>
          <a:bodyPr>
            <a:normAutofit fontScale="92500" lnSpcReduction="20000"/>
          </a:bodyPr>
          <a:lstStyle/>
          <a:p>
            <a:pPr marL="0" indent="0">
              <a:buNone/>
            </a:pPr>
            <a:r>
              <a:rPr lang="en-US" b="1" dirty="0"/>
              <a:t>Disadvantages:</a:t>
            </a:r>
          </a:p>
          <a:p>
            <a:r>
              <a:rPr lang="en-US" dirty="0"/>
              <a:t>Slightly lower performance than natives </a:t>
            </a:r>
          </a:p>
          <a:p>
            <a:r>
              <a:rPr lang="en-US" dirty="0"/>
              <a:t>Sometimes UI not fully native</a:t>
            </a:r>
          </a:p>
          <a:p>
            <a:r>
              <a:rPr lang="en-US" dirty="0"/>
              <a:t>Debugging can be complex</a:t>
            </a:r>
          </a:p>
          <a:p>
            <a:pPr marL="0" indent="0">
              <a:buNone/>
            </a:pPr>
            <a:r>
              <a:rPr lang="en-US" b="1" dirty="0"/>
              <a:t>Technologies:</a:t>
            </a:r>
          </a:p>
          <a:p>
            <a:r>
              <a:rPr lang="en-US" dirty="0"/>
              <a:t>Flutter </a:t>
            </a:r>
          </a:p>
          <a:p>
            <a:r>
              <a:rPr lang="en-US" dirty="0"/>
              <a:t>React Native</a:t>
            </a:r>
          </a:p>
          <a:p>
            <a:r>
              <a:rPr lang="en-US" dirty="0"/>
              <a:t>Ionic</a:t>
            </a:r>
          </a:p>
          <a:p>
            <a:pPr marL="0" indent="0">
              <a:buNone/>
            </a:pPr>
            <a:r>
              <a:rPr lang="en-US" b="1" dirty="0"/>
              <a:t>Examples:</a:t>
            </a:r>
          </a:p>
          <a:p>
            <a:r>
              <a:rPr lang="en-US" b="1" dirty="0"/>
              <a:t>Uber Eats, Discord, Skype</a:t>
            </a:r>
          </a:p>
        </p:txBody>
      </p:sp>
    </p:spTree>
    <p:extLst>
      <p:ext uri="{BB962C8B-B14F-4D97-AF65-F5344CB8AC3E}">
        <p14:creationId xmlns:p14="http://schemas.microsoft.com/office/powerpoint/2010/main" val="3405845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6CC3-0D22-372D-5A20-AA6A61A443F6}"/>
              </a:ext>
            </a:extLst>
          </p:cNvPr>
          <p:cNvSpPr>
            <a:spLocks noGrp="1"/>
          </p:cNvSpPr>
          <p:nvPr>
            <p:ph type="title"/>
          </p:nvPr>
        </p:nvSpPr>
        <p:spPr>
          <a:xfrm>
            <a:off x="1484311" y="685800"/>
            <a:ext cx="10018713" cy="757989"/>
          </a:xfrm>
        </p:spPr>
        <p:txBody>
          <a:bodyPr/>
          <a:lstStyle/>
          <a:p>
            <a:r>
              <a:rPr lang="en-US" b="1" dirty="0"/>
              <a:t>Mobile App Programming Language</a:t>
            </a:r>
          </a:p>
        </p:txBody>
      </p:sp>
      <p:sp>
        <p:nvSpPr>
          <p:cNvPr id="3" name="Content Placeholder 2">
            <a:extLst>
              <a:ext uri="{FF2B5EF4-FFF2-40B4-BE49-F238E27FC236}">
                <a16:creationId xmlns:a16="http://schemas.microsoft.com/office/drawing/2014/main" id="{5D72572F-8503-7893-222D-37FF82317B18}"/>
              </a:ext>
            </a:extLst>
          </p:cNvPr>
          <p:cNvSpPr>
            <a:spLocks noGrp="1"/>
          </p:cNvSpPr>
          <p:nvPr>
            <p:ph idx="1"/>
          </p:nvPr>
        </p:nvSpPr>
        <p:spPr>
          <a:xfrm>
            <a:off x="1484310" y="1732547"/>
            <a:ext cx="10018713" cy="4058653"/>
          </a:xfrm>
        </p:spPr>
        <p:txBody>
          <a:bodyPr/>
          <a:lstStyle/>
          <a:p>
            <a:pPr marL="0" indent="0">
              <a:buNone/>
            </a:pPr>
            <a:r>
              <a:rPr lang="en-US" dirty="0"/>
              <a:t>It is a programming language used to develop mobile applications. These languages provide the instructions that define how the application behaves, how it interacts with users, and how it communicates with device hardware.</a:t>
            </a:r>
          </a:p>
          <a:p>
            <a:pPr marL="0" indent="0">
              <a:buNone/>
            </a:pPr>
            <a:r>
              <a:rPr lang="en-US" dirty="0"/>
              <a:t>Some examples are: Java, </a:t>
            </a:r>
            <a:r>
              <a:rPr lang="en-US" dirty="0" err="1"/>
              <a:t>Klotin</a:t>
            </a:r>
            <a:r>
              <a:rPr lang="en-US" dirty="0"/>
              <a:t>, swift, </a:t>
            </a:r>
            <a:r>
              <a:rPr lang="en-US" dirty="0" err="1"/>
              <a:t>Javascript</a:t>
            </a:r>
            <a:r>
              <a:rPr lang="en-US" dirty="0"/>
              <a:t>, Dart.</a:t>
            </a:r>
          </a:p>
          <a:p>
            <a:pPr marL="0" indent="0">
              <a:buNone/>
            </a:pPr>
            <a:r>
              <a:rPr lang="en-US" dirty="0"/>
              <a:t>Each language having their prose and cone and preferable conditions for use in mobile app development.</a:t>
            </a:r>
          </a:p>
          <a:p>
            <a:pPr marL="0" indent="0">
              <a:buNone/>
            </a:pPr>
            <a:endParaRPr lang="en-US" dirty="0"/>
          </a:p>
        </p:txBody>
      </p:sp>
    </p:spTree>
    <p:extLst>
      <p:ext uri="{BB962C8B-B14F-4D97-AF65-F5344CB8AC3E}">
        <p14:creationId xmlns:p14="http://schemas.microsoft.com/office/powerpoint/2010/main" val="3247319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3C37-22A0-F52A-D500-892EF126FDC0}"/>
              </a:ext>
            </a:extLst>
          </p:cNvPr>
          <p:cNvSpPr>
            <a:spLocks noGrp="1"/>
          </p:cNvSpPr>
          <p:nvPr>
            <p:ph type="title"/>
          </p:nvPr>
        </p:nvSpPr>
        <p:spPr>
          <a:xfrm>
            <a:off x="1484311" y="685801"/>
            <a:ext cx="10018713" cy="1191126"/>
          </a:xfrm>
        </p:spPr>
        <p:txBody>
          <a:bodyPr/>
          <a:lstStyle/>
          <a:p>
            <a:r>
              <a:rPr lang="en-US" b="1" dirty="0"/>
              <a:t>Mobile Development Frameworks</a:t>
            </a:r>
          </a:p>
        </p:txBody>
      </p:sp>
      <p:sp>
        <p:nvSpPr>
          <p:cNvPr id="3" name="Content Placeholder 2">
            <a:extLst>
              <a:ext uri="{FF2B5EF4-FFF2-40B4-BE49-F238E27FC236}">
                <a16:creationId xmlns:a16="http://schemas.microsoft.com/office/drawing/2014/main" id="{8266FDF9-FFD9-F522-B417-6CAA7DA31143}"/>
              </a:ext>
            </a:extLst>
          </p:cNvPr>
          <p:cNvSpPr>
            <a:spLocks noGrp="1"/>
          </p:cNvSpPr>
          <p:nvPr>
            <p:ph idx="1"/>
          </p:nvPr>
        </p:nvSpPr>
        <p:spPr>
          <a:xfrm>
            <a:off x="1484310" y="2021305"/>
            <a:ext cx="10018713" cy="4347411"/>
          </a:xfrm>
        </p:spPr>
        <p:txBody>
          <a:bodyPr>
            <a:normAutofit lnSpcReduction="10000"/>
          </a:bodyPr>
          <a:lstStyle/>
          <a:p>
            <a:pPr marL="0" indent="0">
              <a:buNone/>
            </a:pPr>
            <a:r>
              <a:rPr lang="en-US" dirty="0"/>
              <a:t>It is a software platform that provides tools, libraries, APIs, and pre-written code to simplify mobile application development.</a:t>
            </a:r>
          </a:p>
          <a:p>
            <a:pPr marL="0" indent="0">
              <a:buNone/>
            </a:pPr>
            <a:r>
              <a:rPr lang="en-US" dirty="0"/>
              <a:t>Frameworks simplify development by helping developers:</a:t>
            </a:r>
          </a:p>
          <a:p>
            <a:r>
              <a:rPr lang="en-US" dirty="0"/>
              <a:t>Reduce development time</a:t>
            </a:r>
          </a:p>
          <a:p>
            <a:r>
              <a:rPr lang="en-US" dirty="0"/>
              <a:t>Reuse code</a:t>
            </a:r>
          </a:p>
          <a:p>
            <a:r>
              <a:rPr lang="en-US" dirty="0"/>
              <a:t>Improve performance</a:t>
            </a:r>
          </a:p>
          <a:p>
            <a:r>
              <a:rPr lang="en-US" dirty="0"/>
              <a:t>Simplify UI design</a:t>
            </a:r>
          </a:p>
          <a:p>
            <a:pPr marL="0" indent="0">
              <a:buNone/>
            </a:pPr>
            <a:r>
              <a:rPr lang="en-US" dirty="0"/>
              <a:t>Some of this examples are:</a:t>
            </a:r>
          </a:p>
          <a:p>
            <a:pPr marL="0" indent="0">
              <a:buNone/>
            </a:pPr>
            <a:r>
              <a:rPr lang="en-US" dirty="0"/>
              <a:t>Flutter, React Native, Xamarin, Ionic.</a:t>
            </a:r>
          </a:p>
        </p:txBody>
      </p:sp>
    </p:spTree>
    <p:extLst>
      <p:ext uri="{BB962C8B-B14F-4D97-AF65-F5344CB8AC3E}">
        <p14:creationId xmlns:p14="http://schemas.microsoft.com/office/powerpoint/2010/main" val="3873963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3528F-D6E8-3ECF-6C20-FAE0D2EA7B1B}"/>
              </a:ext>
            </a:extLst>
          </p:cNvPr>
          <p:cNvSpPr>
            <a:spLocks noGrp="1"/>
          </p:cNvSpPr>
          <p:nvPr>
            <p:ph type="title"/>
          </p:nvPr>
        </p:nvSpPr>
        <p:spPr>
          <a:xfrm>
            <a:off x="513347" y="685801"/>
            <a:ext cx="10989677" cy="966536"/>
          </a:xfrm>
        </p:spPr>
        <p:txBody>
          <a:bodyPr>
            <a:normAutofit fontScale="90000"/>
          </a:bodyPr>
          <a:lstStyle/>
          <a:p>
            <a:r>
              <a:rPr lang="en-US" b="1" dirty="0"/>
              <a:t>Mobile Application Architectures and Design Patterns</a:t>
            </a:r>
            <a:br>
              <a:rPr lang="en-US" b="1" dirty="0"/>
            </a:br>
            <a:endParaRPr lang="en-US" dirty="0"/>
          </a:p>
        </p:txBody>
      </p:sp>
      <p:sp>
        <p:nvSpPr>
          <p:cNvPr id="3" name="Content Placeholder 2">
            <a:extLst>
              <a:ext uri="{FF2B5EF4-FFF2-40B4-BE49-F238E27FC236}">
                <a16:creationId xmlns:a16="http://schemas.microsoft.com/office/drawing/2014/main" id="{F461C5DC-9B54-72E5-FECF-95E8F2845357}"/>
              </a:ext>
            </a:extLst>
          </p:cNvPr>
          <p:cNvSpPr>
            <a:spLocks noGrp="1"/>
          </p:cNvSpPr>
          <p:nvPr>
            <p:ph idx="1"/>
          </p:nvPr>
        </p:nvSpPr>
        <p:spPr>
          <a:xfrm>
            <a:off x="1025860" y="1347537"/>
            <a:ext cx="10814047" cy="5229726"/>
          </a:xfrm>
        </p:spPr>
        <p:txBody>
          <a:bodyPr>
            <a:normAutofit fontScale="92500" lnSpcReduction="20000"/>
          </a:bodyPr>
          <a:lstStyle/>
          <a:p>
            <a:pPr marL="0" indent="0">
              <a:buNone/>
            </a:pPr>
            <a:r>
              <a:rPr lang="en-US" dirty="0"/>
              <a:t>Mobile architecture defines how components interact.</a:t>
            </a:r>
          </a:p>
          <a:p>
            <a:pPr marL="0" indent="0">
              <a:buNone/>
            </a:pPr>
            <a:r>
              <a:rPr lang="en-US" dirty="0"/>
              <a:t>Some common Architectures are:</a:t>
            </a:r>
          </a:p>
          <a:p>
            <a:pPr marL="0" indent="0">
              <a:buNone/>
            </a:pPr>
            <a:r>
              <a:rPr lang="en-US" sz="3000" b="1" dirty="0"/>
              <a:t>MVC (Model View Controller)</a:t>
            </a:r>
          </a:p>
          <a:p>
            <a:pPr marL="0" indent="0">
              <a:buNone/>
            </a:pPr>
            <a:r>
              <a:rPr lang="en-US" b="1" dirty="0"/>
              <a:t>Structure:</a:t>
            </a:r>
          </a:p>
          <a:p>
            <a:r>
              <a:rPr lang="en-US" dirty="0"/>
              <a:t>Model – Data </a:t>
            </a:r>
          </a:p>
          <a:p>
            <a:r>
              <a:rPr lang="en-US" dirty="0"/>
              <a:t>View – UI</a:t>
            </a:r>
          </a:p>
          <a:p>
            <a:r>
              <a:rPr lang="en-US" dirty="0"/>
              <a:t>Controller – logic</a:t>
            </a:r>
          </a:p>
          <a:p>
            <a:pPr marL="0" indent="0">
              <a:buNone/>
            </a:pPr>
            <a:r>
              <a:rPr lang="en-US" b="1" dirty="0"/>
              <a:t>Advantages:</a:t>
            </a:r>
          </a:p>
          <a:p>
            <a:r>
              <a:rPr lang="en-US" dirty="0"/>
              <a:t>Simple </a:t>
            </a:r>
          </a:p>
          <a:p>
            <a:r>
              <a:rPr lang="en-US" dirty="0"/>
              <a:t>Easy to understand</a:t>
            </a:r>
          </a:p>
          <a:p>
            <a:pPr marL="0" indent="0">
              <a:buNone/>
            </a:pPr>
            <a:r>
              <a:rPr lang="en-US" dirty="0"/>
              <a:t>Disadvantages:</a:t>
            </a:r>
          </a:p>
          <a:p>
            <a:r>
              <a:rPr lang="en-US" dirty="0"/>
              <a:t>Controller becomes Large </a:t>
            </a:r>
          </a:p>
          <a:p>
            <a:pPr marL="0" indent="0">
              <a:buNone/>
            </a:pPr>
            <a:endParaRPr lang="en-US" dirty="0"/>
          </a:p>
        </p:txBody>
      </p:sp>
    </p:spTree>
    <p:extLst>
      <p:ext uri="{BB962C8B-B14F-4D97-AF65-F5344CB8AC3E}">
        <p14:creationId xmlns:p14="http://schemas.microsoft.com/office/powerpoint/2010/main" val="147653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C0ACA-4805-6606-C202-82296297A14E}"/>
              </a:ext>
            </a:extLst>
          </p:cNvPr>
          <p:cNvSpPr>
            <a:spLocks noGrp="1"/>
          </p:cNvSpPr>
          <p:nvPr>
            <p:ph type="title"/>
          </p:nvPr>
        </p:nvSpPr>
        <p:spPr>
          <a:xfrm>
            <a:off x="272716" y="56147"/>
            <a:ext cx="11919284" cy="2021306"/>
          </a:xfrm>
        </p:spPr>
        <p:txBody>
          <a:bodyPr/>
          <a:lstStyle/>
          <a:p>
            <a:r>
              <a:rPr lang="en-US" b="1" dirty="0"/>
              <a:t>Mobile Application Architectures and Design Patterns</a:t>
            </a:r>
            <a:endParaRPr lang="en-US" dirty="0"/>
          </a:p>
        </p:txBody>
      </p:sp>
      <p:sp>
        <p:nvSpPr>
          <p:cNvPr id="3" name="Content Placeholder 2">
            <a:extLst>
              <a:ext uri="{FF2B5EF4-FFF2-40B4-BE49-F238E27FC236}">
                <a16:creationId xmlns:a16="http://schemas.microsoft.com/office/drawing/2014/main" id="{60D56129-93EC-D4BF-7D5D-7196A7DFD8C9}"/>
              </a:ext>
            </a:extLst>
          </p:cNvPr>
          <p:cNvSpPr>
            <a:spLocks noGrp="1"/>
          </p:cNvSpPr>
          <p:nvPr>
            <p:ph idx="1"/>
          </p:nvPr>
        </p:nvSpPr>
        <p:spPr>
          <a:xfrm>
            <a:off x="770022" y="1876926"/>
            <a:ext cx="10733002" cy="4700337"/>
          </a:xfrm>
        </p:spPr>
        <p:txBody>
          <a:bodyPr>
            <a:normAutofit fontScale="92500" lnSpcReduction="10000"/>
          </a:bodyPr>
          <a:lstStyle/>
          <a:p>
            <a:pPr marL="0" indent="0">
              <a:buNone/>
            </a:pPr>
            <a:r>
              <a:rPr lang="en-US" sz="3000" b="1" dirty="0"/>
              <a:t>MVP (Model View Presenter)</a:t>
            </a:r>
            <a:endParaRPr lang="en-US" sz="3000" dirty="0"/>
          </a:p>
          <a:p>
            <a:pPr marL="0" indent="0">
              <a:buNone/>
            </a:pPr>
            <a:r>
              <a:rPr lang="en-US" dirty="0"/>
              <a:t>Structure:</a:t>
            </a:r>
          </a:p>
          <a:p>
            <a:r>
              <a:rPr lang="en-US" dirty="0"/>
              <a:t>Model – Data</a:t>
            </a:r>
          </a:p>
          <a:p>
            <a:r>
              <a:rPr lang="en-US" dirty="0"/>
              <a:t>View- UI</a:t>
            </a:r>
          </a:p>
          <a:p>
            <a:r>
              <a:rPr lang="en-US" dirty="0"/>
              <a:t>Presenter- Logic</a:t>
            </a:r>
          </a:p>
          <a:p>
            <a:pPr marL="0" indent="0">
              <a:buNone/>
            </a:pPr>
            <a:r>
              <a:rPr lang="en-US" b="1" dirty="0"/>
              <a:t>Advantages:</a:t>
            </a:r>
          </a:p>
          <a:p>
            <a:r>
              <a:rPr lang="en-US" dirty="0"/>
              <a:t>Better separation</a:t>
            </a:r>
          </a:p>
          <a:p>
            <a:r>
              <a:rPr lang="en-US" dirty="0"/>
              <a:t>Easier testing</a:t>
            </a:r>
          </a:p>
          <a:p>
            <a:pPr marL="0" indent="0">
              <a:buNone/>
            </a:pPr>
            <a:r>
              <a:rPr lang="en-US" b="1" dirty="0"/>
              <a:t>Disadvantages</a:t>
            </a:r>
            <a:r>
              <a:rPr lang="en-US" dirty="0"/>
              <a:t>:</a:t>
            </a:r>
          </a:p>
          <a:p>
            <a:r>
              <a:rPr lang="en-US" dirty="0"/>
              <a:t>More classes required</a:t>
            </a:r>
          </a:p>
        </p:txBody>
      </p:sp>
    </p:spTree>
    <p:extLst>
      <p:ext uri="{BB962C8B-B14F-4D97-AF65-F5344CB8AC3E}">
        <p14:creationId xmlns:p14="http://schemas.microsoft.com/office/powerpoint/2010/main" val="53102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73A13-120F-D3E9-96E5-86F14F3109B3}"/>
              </a:ext>
            </a:extLst>
          </p:cNvPr>
          <p:cNvSpPr>
            <a:spLocks noGrp="1"/>
          </p:cNvSpPr>
          <p:nvPr>
            <p:ph type="title"/>
          </p:nvPr>
        </p:nvSpPr>
        <p:spPr>
          <a:xfrm>
            <a:off x="176463" y="495300"/>
            <a:ext cx="11839074" cy="1143000"/>
          </a:xfrm>
        </p:spPr>
        <p:txBody>
          <a:bodyPr>
            <a:normAutofit fontScale="90000"/>
          </a:bodyPr>
          <a:lstStyle/>
          <a:p>
            <a:r>
              <a:rPr lang="en-US" b="1" dirty="0"/>
              <a:t>Mobile Application Architectures and Design Patterns</a:t>
            </a:r>
            <a:endParaRPr lang="en-US" dirty="0"/>
          </a:p>
        </p:txBody>
      </p:sp>
      <p:sp>
        <p:nvSpPr>
          <p:cNvPr id="3" name="Content Placeholder 2">
            <a:extLst>
              <a:ext uri="{FF2B5EF4-FFF2-40B4-BE49-F238E27FC236}">
                <a16:creationId xmlns:a16="http://schemas.microsoft.com/office/drawing/2014/main" id="{6BBD6447-00FE-4C2A-F058-9C1FF6B795C8}"/>
              </a:ext>
            </a:extLst>
          </p:cNvPr>
          <p:cNvSpPr>
            <a:spLocks noGrp="1"/>
          </p:cNvSpPr>
          <p:nvPr>
            <p:ph idx="1"/>
          </p:nvPr>
        </p:nvSpPr>
        <p:spPr>
          <a:xfrm>
            <a:off x="689812" y="1844842"/>
            <a:ext cx="10813212" cy="4517857"/>
          </a:xfrm>
        </p:spPr>
        <p:txBody>
          <a:bodyPr>
            <a:normAutofit fontScale="85000" lnSpcReduction="20000"/>
          </a:bodyPr>
          <a:lstStyle/>
          <a:p>
            <a:pPr marL="0" indent="0">
              <a:buNone/>
            </a:pPr>
            <a:r>
              <a:rPr lang="en-US" sz="2800" b="1" dirty="0"/>
              <a:t>MVVM (Model View </a:t>
            </a:r>
            <a:r>
              <a:rPr lang="en-US" sz="2800" b="1" dirty="0" err="1"/>
              <a:t>ViewModel</a:t>
            </a:r>
            <a:r>
              <a:rPr lang="en-US" sz="2800" b="1" dirty="0"/>
              <a:t>)</a:t>
            </a:r>
          </a:p>
          <a:p>
            <a:pPr marL="0" indent="0">
              <a:buNone/>
            </a:pPr>
            <a:r>
              <a:rPr lang="en-US" dirty="0"/>
              <a:t>Structure:</a:t>
            </a:r>
          </a:p>
          <a:p>
            <a:r>
              <a:rPr lang="en-US" dirty="0"/>
              <a:t>Model- data</a:t>
            </a:r>
          </a:p>
          <a:p>
            <a:r>
              <a:rPr lang="en-US" dirty="0"/>
              <a:t>View- UI</a:t>
            </a:r>
          </a:p>
          <a:p>
            <a:r>
              <a:rPr lang="en-US" dirty="0" err="1"/>
              <a:t>ViewModel</a:t>
            </a:r>
            <a:r>
              <a:rPr lang="en-US" dirty="0"/>
              <a:t> – Business logic</a:t>
            </a:r>
          </a:p>
          <a:p>
            <a:pPr marL="0" indent="0">
              <a:buNone/>
            </a:pPr>
            <a:r>
              <a:rPr lang="en-US" sz="2800" b="1" dirty="0"/>
              <a:t>Advantages:</a:t>
            </a:r>
          </a:p>
          <a:p>
            <a:r>
              <a:rPr lang="en-US" dirty="0"/>
              <a:t>Modern Architecture</a:t>
            </a:r>
          </a:p>
          <a:p>
            <a:r>
              <a:rPr lang="en-US" dirty="0"/>
              <a:t>Good maintainability</a:t>
            </a:r>
          </a:p>
          <a:p>
            <a:r>
              <a:rPr lang="en-US" dirty="0"/>
              <a:t>Testable </a:t>
            </a:r>
          </a:p>
          <a:p>
            <a:pPr marL="0" indent="0">
              <a:buNone/>
            </a:pPr>
            <a:r>
              <a:rPr lang="en-US" sz="2800" b="1" dirty="0"/>
              <a:t>Disadvantages:</a:t>
            </a:r>
          </a:p>
          <a:p>
            <a:r>
              <a:rPr lang="en-US" dirty="0"/>
              <a:t>Complex for beginners</a:t>
            </a:r>
          </a:p>
          <a:p>
            <a:pPr marL="0" indent="0">
              <a:buNone/>
            </a:pPr>
            <a:endParaRPr lang="en-US" dirty="0"/>
          </a:p>
        </p:txBody>
      </p:sp>
    </p:spTree>
    <p:extLst>
      <p:ext uri="{BB962C8B-B14F-4D97-AF65-F5344CB8AC3E}">
        <p14:creationId xmlns:p14="http://schemas.microsoft.com/office/powerpoint/2010/main" val="1357092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C553F-3342-11C5-585B-B460B9FD743C}"/>
              </a:ext>
            </a:extLst>
          </p:cNvPr>
          <p:cNvSpPr>
            <a:spLocks noGrp="1"/>
          </p:cNvSpPr>
          <p:nvPr>
            <p:ph type="title"/>
          </p:nvPr>
        </p:nvSpPr>
        <p:spPr>
          <a:xfrm>
            <a:off x="1484311" y="685800"/>
            <a:ext cx="10018713" cy="950495"/>
          </a:xfrm>
        </p:spPr>
        <p:txBody>
          <a:bodyPr/>
          <a:lstStyle/>
          <a:p>
            <a:r>
              <a:rPr lang="en-US" b="1" dirty="0"/>
              <a:t>Requirement Engineering Process</a:t>
            </a:r>
          </a:p>
        </p:txBody>
      </p:sp>
      <p:sp>
        <p:nvSpPr>
          <p:cNvPr id="3" name="Content Placeholder 2">
            <a:extLst>
              <a:ext uri="{FF2B5EF4-FFF2-40B4-BE49-F238E27FC236}">
                <a16:creationId xmlns:a16="http://schemas.microsoft.com/office/drawing/2014/main" id="{FBA89983-8A4A-8721-0BDA-29D12D83B1B2}"/>
              </a:ext>
            </a:extLst>
          </p:cNvPr>
          <p:cNvSpPr>
            <a:spLocks noGrp="1"/>
          </p:cNvSpPr>
          <p:nvPr>
            <p:ph idx="1"/>
          </p:nvPr>
        </p:nvSpPr>
        <p:spPr>
          <a:xfrm>
            <a:off x="1484310" y="1636295"/>
            <a:ext cx="10018713" cy="4684294"/>
          </a:xfrm>
        </p:spPr>
        <p:txBody>
          <a:bodyPr>
            <a:normAutofit fontScale="85000" lnSpcReduction="20000"/>
          </a:bodyPr>
          <a:lstStyle/>
          <a:p>
            <a:pPr marL="0" indent="0">
              <a:buNone/>
            </a:pPr>
            <a:r>
              <a:rPr lang="en-US" dirty="0"/>
              <a:t>This process defines the norms needed to follow during mobile app development. The step to foll0w are:</a:t>
            </a:r>
          </a:p>
          <a:p>
            <a:pPr marL="0" indent="0">
              <a:buNone/>
            </a:pPr>
            <a:r>
              <a:rPr lang="en-US" b="1" dirty="0"/>
              <a:t>Requirement Gathering</a:t>
            </a:r>
            <a:endParaRPr lang="en-US" dirty="0"/>
          </a:p>
          <a:p>
            <a:pPr marL="0" indent="0">
              <a:buNone/>
            </a:pPr>
            <a:r>
              <a:rPr lang="en-US" dirty="0"/>
              <a:t>Methods:</a:t>
            </a:r>
          </a:p>
          <a:p>
            <a:r>
              <a:rPr lang="en-US" dirty="0"/>
              <a:t>Interviews</a:t>
            </a:r>
          </a:p>
          <a:p>
            <a:r>
              <a:rPr lang="en-US" dirty="0"/>
              <a:t>Questionnaires</a:t>
            </a:r>
          </a:p>
          <a:p>
            <a:r>
              <a:rPr lang="en-US" dirty="0"/>
              <a:t>Observation</a:t>
            </a:r>
          </a:p>
          <a:p>
            <a:r>
              <a:rPr lang="en-US" dirty="0"/>
              <a:t>Survey</a:t>
            </a:r>
          </a:p>
          <a:p>
            <a:pPr marL="0" indent="0">
              <a:buNone/>
            </a:pPr>
            <a:r>
              <a:rPr lang="en-US" b="1" dirty="0"/>
              <a:t>Requirement Analysis</a:t>
            </a:r>
          </a:p>
          <a:p>
            <a:pPr marL="0" indent="0">
              <a:buNone/>
            </a:pPr>
            <a:r>
              <a:rPr lang="en-US" b="1" dirty="0"/>
              <a:t>Identify:</a:t>
            </a:r>
          </a:p>
          <a:p>
            <a:r>
              <a:rPr lang="en-US" dirty="0"/>
              <a:t>Functional requirements</a:t>
            </a:r>
          </a:p>
          <a:p>
            <a:r>
              <a:rPr lang="en-US" dirty="0"/>
              <a:t>Non-functional requirements</a:t>
            </a:r>
          </a:p>
          <a:p>
            <a:pPr marL="0" indent="0">
              <a:buNone/>
            </a:pPr>
            <a:endParaRPr lang="en-US" dirty="0"/>
          </a:p>
        </p:txBody>
      </p:sp>
    </p:spTree>
    <p:extLst>
      <p:ext uri="{BB962C8B-B14F-4D97-AF65-F5344CB8AC3E}">
        <p14:creationId xmlns:p14="http://schemas.microsoft.com/office/powerpoint/2010/main" val="4017761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57C95-5D56-271F-F215-CEBA44169169}"/>
              </a:ext>
            </a:extLst>
          </p:cNvPr>
          <p:cNvSpPr>
            <a:spLocks noGrp="1"/>
          </p:cNvSpPr>
          <p:nvPr>
            <p:ph type="title"/>
          </p:nvPr>
        </p:nvSpPr>
        <p:spPr>
          <a:xfrm>
            <a:off x="1484311" y="685801"/>
            <a:ext cx="10018713" cy="854242"/>
          </a:xfrm>
        </p:spPr>
        <p:txBody>
          <a:bodyPr/>
          <a:lstStyle/>
          <a:p>
            <a:r>
              <a:rPr lang="en-US" b="1" dirty="0"/>
              <a:t>Requirement Engineering Process</a:t>
            </a:r>
            <a:endParaRPr lang="en-US" dirty="0"/>
          </a:p>
        </p:txBody>
      </p:sp>
      <p:sp>
        <p:nvSpPr>
          <p:cNvPr id="3" name="Content Placeholder 2">
            <a:extLst>
              <a:ext uri="{FF2B5EF4-FFF2-40B4-BE49-F238E27FC236}">
                <a16:creationId xmlns:a16="http://schemas.microsoft.com/office/drawing/2014/main" id="{B6FE3606-2A75-3A53-5C15-7768CA8E4589}"/>
              </a:ext>
            </a:extLst>
          </p:cNvPr>
          <p:cNvSpPr>
            <a:spLocks noGrp="1"/>
          </p:cNvSpPr>
          <p:nvPr>
            <p:ph idx="1"/>
          </p:nvPr>
        </p:nvSpPr>
        <p:spPr>
          <a:xfrm>
            <a:off x="1484310" y="1796716"/>
            <a:ext cx="10018713" cy="4539915"/>
          </a:xfrm>
        </p:spPr>
        <p:txBody>
          <a:bodyPr>
            <a:normAutofit fontScale="77500" lnSpcReduction="20000"/>
          </a:bodyPr>
          <a:lstStyle/>
          <a:p>
            <a:pPr marL="0" indent="0">
              <a:buNone/>
            </a:pPr>
            <a:r>
              <a:rPr lang="en-US" dirty="0"/>
              <a:t>Functional example:</a:t>
            </a:r>
          </a:p>
          <a:p>
            <a:r>
              <a:rPr lang="en-US" dirty="0"/>
              <a:t>User login</a:t>
            </a:r>
          </a:p>
          <a:p>
            <a:r>
              <a:rPr lang="en-US" dirty="0"/>
              <a:t>Payment system</a:t>
            </a:r>
          </a:p>
          <a:p>
            <a:pPr marL="0" indent="0">
              <a:buNone/>
            </a:pPr>
            <a:r>
              <a:rPr lang="en-US" dirty="0"/>
              <a:t> Non-functional example:</a:t>
            </a:r>
          </a:p>
          <a:p>
            <a:r>
              <a:rPr lang="en-US" dirty="0"/>
              <a:t>Security</a:t>
            </a:r>
          </a:p>
          <a:p>
            <a:r>
              <a:rPr lang="en-US" dirty="0"/>
              <a:t>Performance</a:t>
            </a:r>
          </a:p>
          <a:p>
            <a:r>
              <a:rPr lang="en-US" dirty="0"/>
              <a:t>Scalability</a:t>
            </a:r>
          </a:p>
          <a:p>
            <a:pPr marL="0" indent="0">
              <a:buNone/>
            </a:pPr>
            <a:r>
              <a:rPr lang="en-US" sz="3100" b="1" dirty="0"/>
              <a:t>Requirement Documentation</a:t>
            </a:r>
            <a:endParaRPr lang="en-US" sz="3100" dirty="0"/>
          </a:p>
          <a:p>
            <a:pPr marL="0" indent="0">
              <a:buNone/>
            </a:pPr>
            <a:r>
              <a:rPr lang="en-US" dirty="0"/>
              <a:t>Tools:</a:t>
            </a:r>
          </a:p>
          <a:p>
            <a:r>
              <a:rPr lang="en-US" dirty="0"/>
              <a:t>Use cases</a:t>
            </a:r>
          </a:p>
          <a:p>
            <a:r>
              <a:rPr lang="en-US" dirty="0"/>
              <a:t>User stories</a:t>
            </a:r>
          </a:p>
          <a:p>
            <a:r>
              <a:rPr lang="en-US" dirty="0"/>
              <a:t>Requirement specification document</a:t>
            </a:r>
          </a:p>
          <a:p>
            <a:pPr marL="0" indent="0">
              <a:buNone/>
            </a:pPr>
            <a:endParaRPr lang="en-US" dirty="0"/>
          </a:p>
        </p:txBody>
      </p:sp>
    </p:spTree>
    <p:extLst>
      <p:ext uri="{BB962C8B-B14F-4D97-AF65-F5344CB8AC3E}">
        <p14:creationId xmlns:p14="http://schemas.microsoft.com/office/powerpoint/2010/main" val="2573651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8731-B46D-3852-261E-A2CB71B24130}"/>
              </a:ext>
            </a:extLst>
          </p:cNvPr>
          <p:cNvSpPr>
            <a:spLocks noGrp="1"/>
          </p:cNvSpPr>
          <p:nvPr>
            <p:ph type="title"/>
          </p:nvPr>
        </p:nvSpPr>
        <p:spPr>
          <a:xfrm>
            <a:off x="1484311" y="685800"/>
            <a:ext cx="10018713" cy="982579"/>
          </a:xfrm>
        </p:spPr>
        <p:txBody>
          <a:bodyPr/>
          <a:lstStyle/>
          <a:p>
            <a:r>
              <a:rPr lang="en-US" b="1" dirty="0"/>
              <a:t>Requirement Engineering Process</a:t>
            </a:r>
            <a:endParaRPr lang="en-US" dirty="0"/>
          </a:p>
        </p:txBody>
      </p:sp>
      <p:sp>
        <p:nvSpPr>
          <p:cNvPr id="3" name="Content Placeholder 2">
            <a:extLst>
              <a:ext uri="{FF2B5EF4-FFF2-40B4-BE49-F238E27FC236}">
                <a16:creationId xmlns:a16="http://schemas.microsoft.com/office/drawing/2014/main" id="{08431724-0143-76BB-A0E4-67A21A9A6D39}"/>
              </a:ext>
            </a:extLst>
          </p:cNvPr>
          <p:cNvSpPr>
            <a:spLocks noGrp="1"/>
          </p:cNvSpPr>
          <p:nvPr>
            <p:ph idx="1"/>
          </p:nvPr>
        </p:nvSpPr>
        <p:spPr>
          <a:xfrm>
            <a:off x="1484310" y="1844843"/>
            <a:ext cx="10018713" cy="3946358"/>
          </a:xfrm>
        </p:spPr>
        <p:txBody>
          <a:bodyPr/>
          <a:lstStyle/>
          <a:p>
            <a:pPr marL="0" indent="0">
              <a:buNone/>
            </a:pPr>
            <a:r>
              <a:rPr lang="en-US" sz="2800" b="1" dirty="0"/>
              <a:t>Requirement Validation</a:t>
            </a:r>
          </a:p>
          <a:p>
            <a:pPr marL="0" indent="0">
              <a:buNone/>
            </a:pPr>
            <a:r>
              <a:rPr lang="en-US" dirty="0"/>
              <a:t>Ensures:</a:t>
            </a:r>
          </a:p>
          <a:p>
            <a:r>
              <a:rPr lang="en-US" dirty="0"/>
              <a:t>Requirements are correct</a:t>
            </a:r>
          </a:p>
          <a:p>
            <a:r>
              <a:rPr lang="en-US" dirty="0"/>
              <a:t>Requirements are complete</a:t>
            </a:r>
          </a:p>
          <a:p>
            <a:r>
              <a:rPr lang="en-US" dirty="0"/>
              <a:t>Requirements are feasible</a:t>
            </a:r>
          </a:p>
          <a:p>
            <a:pPr marL="0" indent="0">
              <a:buNone/>
            </a:pPr>
            <a:endParaRPr lang="en-US" dirty="0"/>
          </a:p>
        </p:txBody>
      </p:sp>
    </p:spTree>
    <p:extLst>
      <p:ext uri="{BB962C8B-B14F-4D97-AF65-F5344CB8AC3E}">
        <p14:creationId xmlns:p14="http://schemas.microsoft.com/office/powerpoint/2010/main" val="2891540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704F-7B1F-54D2-1836-8BDA88B9947D}"/>
              </a:ext>
            </a:extLst>
          </p:cNvPr>
          <p:cNvSpPr>
            <a:spLocks noGrp="1"/>
          </p:cNvSpPr>
          <p:nvPr>
            <p:ph type="title"/>
          </p:nvPr>
        </p:nvSpPr>
        <p:spPr>
          <a:xfrm>
            <a:off x="1484311" y="685801"/>
            <a:ext cx="10018713" cy="1126958"/>
          </a:xfrm>
        </p:spPr>
        <p:txBody>
          <a:bodyPr/>
          <a:lstStyle/>
          <a:p>
            <a:r>
              <a:rPr lang="en-US" b="1" dirty="0"/>
              <a:t>Mobile app development cost estimation</a:t>
            </a:r>
          </a:p>
        </p:txBody>
      </p:sp>
      <p:sp>
        <p:nvSpPr>
          <p:cNvPr id="3" name="Content Placeholder 2">
            <a:extLst>
              <a:ext uri="{FF2B5EF4-FFF2-40B4-BE49-F238E27FC236}">
                <a16:creationId xmlns:a16="http://schemas.microsoft.com/office/drawing/2014/main" id="{43C5E7C9-67AC-46F5-F7D5-F0B236884DBD}"/>
              </a:ext>
            </a:extLst>
          </p:cNvPr>
          <p:cNvSpPr>
            <a:spLocks noGrp="1"/>
          </p:cNvSpPr>
          <p:nvPr>
            <p:ph idx="1"/>
          </p:nvPr>
        </p:nvSpPr>
        <p:spPr>
          <a:xfrm>
            <a:off x="1484310" y="1668378"/>
            <a:ext cx="10018713" cy="5189622"/>
          </a:xfrm>
        </p:spPr>
        <p:txBody>
          <a:bodyPr>
            <a:normAutofit fontScale="85000" lnSpcReduction="20000"/>
          </a:bodyPr>
          <a:lstStyle/>
          <a:p>
            <a:pPr marL="0" indent="0">
              <a:buNone/>
            </a:pPr>
            <a:r>
              <a:rPr lang="en-US" sz="2800" b="1" dirty="0"/>
              <a:t>Estimating Mobile App Development Cost</a:t>
            </a:r>
          </a:p>
          <a:p>
            <a:pPr marL="0" indent="0">
              <a:buNone/>
            </a:pPr>
            <a:r>
              <a:rPr lang="en-US" dirty="0"/>
              <a:t>Cost depends on multiple factors.</a:t>
            </a:r>
          </a:p>
          <a:p>
            <a:pPr marL="0" indent="0">
              <a:buNone/>
            </a:pPr>
            <a:r>
              <a:rPr lang="en-US" b="1" dirty="0"/>
              <a:t>Factors affecting cost:</a:t>
            </a:r>
          </a:p>
          <a:p>
            <a:pPr marL="0" indent="0">
              <a:buNone/>
            </a:pPr>
            <a:r>
              <a:rPr lang="en-US" b="1" dirty="0"/>
              <a:t>App Complexity</a:t>
            </a:r>
          </a:p>
          <a:p>
            <a:pPr marL="0" indent="0">
              <a:buNone/>
            </a:pPr>
            <a:r>
              <a:rPr lang="en-US" dirty="0"/>
              <a:t>Simple apps:</a:t>
            </a:r>
          </a:p>
          <a:p>
            <a:r>
              <a:rPr lang="en-US" dirty="0"/>
              <a:t>Calculator</a:t>
            </a:r>
          </a:p>
          <a:p>
            <a:r>
              <a:rPr lang="en-US" dirty="0"/>
              <a:t>Notes app</a:t>
            </a:r>
          </a:p>
          <a:p>
            <a:pPr marL="0" indent="0">
              <a:buNone/>
            </a:pPr>
            <a:r>
              <a:rPr lang="en-US" dirty="0"/>
              <a:t>Medium apps:</a:t>
            </a:r>
          </a:p>
          <a:p>
            <a:r>
              <a:rPr lang="en-US" dirty="0"/>
              <a:t>Chat apps</a:t>
            </a:r>
          </a:p>
          <a:p>
            <a:r>
              <a:rPr lang="en-US" dirty="0"/>
              <a:t>Booking apps</a:t>
            </a:r>
          </a:p>
          <a:p>
            <a:pPr marL="0" indent="0">
              <a:buNone/>
            </a:pPr>
            <a:r>
              <a:rPr lang="en-US" dirty="0"/>
              <a:t>Complex apps:</a:t>
            </a:r>
          </a:p>
          <a:p>
            <a:r>
              <a:rPr lang="en-US" dirty="0"/>
              <a:t>Banking apps</a:t>
            </a:r>
          </a:p>
          <a:p>
            <a:r>
              <a:rPr lang="en-US" dirty="0"/>
              <a:t>AI apps</a:t>
            </a:r>
          </a:p>
          <a:p>
            <a:endParaRPr lang="en-US" dirty="0"/>
          </a:p>
        </p:txBody>
      </p:sp>
    </p:spTree>
    <p:extLst>
      <p:ext uri="{BB962C8B-B14F-4D97-AF65-F5344CB8AC3E}">
        <p14:creationId xmlns:p14="http://schemas.microsoft.com/office/powerpoint/2010/main" val="2362886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8486D-CDE0-7F65-4706-25E22F125108}"/>
              </a:ext>
            </a:extLst>
          </p:cNvPr>
          <p:cNvSpPr>
            <a:spLocks noGrp="1"/>
          </p:cNvSpPr>
          <p:nvPr>
            <p:ph type="title"/>
          </p:nvPr>
        </p:nvSpPr>
        <p:spPr>
          <a:xfrm>
            <a:off x="1484311" y="685800"/>
            <a:ext cx="10018713" cy="1014663"/>
          </a:xfrm>
        </p:spPr>
        <p:txBody>
          <a:bodyPr/>
          <a:lstStyle/>
          <a:p>
            <a:r>
              <a:rPr lang="en-US" b="1" dirty="0"/>
              <a:t>Mobile app development cost estimation</a:t>
            </a:r>
            <a:endParaRPr lang="en-US" dirty="0"/>
          </a:p>
        </p:txBody>
      </p:sp>
      <p:sp>
        <p:nvSpPr>
          <p:cNvPr id="3" name="Content Placeholder 2">
            <a:extLst>
              <a:ext uri="{FF2B5EF4-FFF2-40B4-BE49-F238E27FC236}">
                <a16:creationId xmlns:a16="http://schemas.microsoft.com/office/drawing/2014/main" id="{3C39FD51-1257-6C2A-8507-648636F73482}"/>
              </a:ext>
            </a:extLst>
          </p:cNvPr>
          <p:cNvSpPr>
            <a:spLocks noGrp="1"/>
          </p:cNvSpPr>
          <p:nvPr>
            <p:ph idx="1"/>
          </p:nvPr>
        </p:nvSpPr>
        <p:spPr>
          <a:xfrm>
            <a:off x="1484310" y="1860884"/>
            <a:ext cx="10322679" cy="4684295"/>
          </a:xfrm>
        </p:spPr>
        <p:txBody>
          <a:bodyPr>
            <a:normAutofit fontScale="85000" lnSpcReduction="20000"/>
          </a:bodyPr>
          <a:lstStyle/>
          <a:p>
            <a:pPr marL="0" indent="0">
              <a:buNone/>
            </a:pPr>
            <a:r>
              <a:rPr lang="en-US" sz="2800" b="1" dirty="0"/>
              <a:t>Development Time</a:t>
            </a:r>
          </a:p>
          <a:p>
            <a:pPr marL="0" indent="0">
              <a:buNone/>
            </a:pPr>
            <a:r>
              <a:rPr lang="en-US" dirty="0"/>
              <a:t>Simple:</a:t>
            </a:r>
          </a:p>
          <a:p>
            <a:pPr marL="0" indent="0">
              <a:buNone/>
            </a:pPr>
            <a:r>
              <a:rPr lang="en-US" dirty="0"/>
              <a:t>1-2 months</a:t>
            </a:r>
          </a:p>
          <a:p>
            <a:pPr marL="0" indent="0">
              <a:buNone/>
            </a:pPr>
            <a:r>
              <a:rPr lang="en-US" dirty="0"/>
              <a:t>Medium:</a:t>
            </a:r>
          </a:p>
          <a:p>
            <a:pPr marL="0" indent="0">
              <a:buNone/>
            </a:pPr>
            <a:r>
              <a:rPr lang="en-US" dirty="0"/>
              <a:t>3 – 6 months</a:t>
            </a:r>
          </a:p>
          <a:p>
            <a:pPr marL="0" indent="0">
              <a:buNone/>
            </a:pPr>
            <a:r>
              <a:rPr lang="en-US" dirty="0"/>
              <a:t>Complex :</a:t>
            </a:r>
          </a:p>
          <a:p>
            <a:pPr marL="0" indent="0">
              <a:buNone/>
            </a:pPr>
            <a:r>
              <a:rPr lang="en-US" dirty="0"/>
              <a:t>6 – 12 months</a:t>
            </a:r>
          </a:p>
          <a:p>
            <a:pPr marL="0" indent="0">
              <a:buNone/>
            </a:pPr>
            <a:r>
              <a:rPr lang="en-US" sz="2800" b="1" dirty="0"/>
              <a:t>Developer Cost</a:t>
            </a:r>
          </a:p>
          <a:p>
            <a:pPr marL="0" indent="0">
              <a:buNone/>
            </a:pPr>
            <a:r>
              <a:rPr lang="en-US" dirty="0"/>
              <a:t>Depends on:</a:t>
            </a:r>
          </a:p>
          <a:p>
            <a:r>
              <a:rPr lang="en-US" dirty="0"/>
              <a:t>Experience</a:t>
            </a:r>
          </a:p>
          <a:p>
            <a:r>
              <a:rPr lang="en-US" dirty="0"/>
              <a:t>Country </a:t>
            </a:r>
          </a:p>
          <a:p>
            <a:r>
              <a:rPr lang="en-US" dirty="0"/>
              <a:t>Technology</a:t>
            </a:r>
          </a:p>
        </p:txBody>
      </p:sp>
    </p:spTree>
    <p:extLst>
      <p:ext uri="{BB962C8B-B14F-4D97-AF65-F5344CB8AC3E}">
        <p14:creationId xmlns:p14="http://schemas.microsoft.com/office/powerpoint/2010/main" val="4274142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AEFE-FBE8-D35E-FCEF-8E6F38E79182}"/>
              </a:ext>
            </a:extLst>
          </p:cNvPr>
          <p:cNvSpPr>
            <a:spLocks noGrp="1"/>
          </p:cNvSpPr>
          <p:nvPr>
            <p:ph type="title"/>
          </p:nvPr>
        </p:nvSpPr>
        <p:spPr>
          <a:xfrm>
            <a:off x="1484311" y="685801"/>
            <a:ext cx="10018713" cy="1110916"/>
          </a:xfrm>
        </p:spPr>
        <p:txBody>
          <a:bodyPr/>
          <a:lstStyle/>
          <a:p>
            <a:r>
              <a:rPr lang="en-US" b="1" dirty="0"/>
              <a:t>Mobile app development cost estimation</a:t>
            </a:r>
            <a:endParaRPr lang="en-US" dirty="0"/>
          </a:p>
        </p:txBody>
      </p:sp>
      <p:sp>
        <p:nvSpPr>
          <p:cNvPr id="3" name="Content Placeholder 2">
            <a:extLst>
              <a:ext uri="{FF2B5EF4-FFF2-40B4-BE49-F238E27FC236}">
                <a16:creationId xmlns:a16="http://schemas.microsoft.com/office/drawing/2014/main" id="{A019FE19-505C-01B9-019F-0C752D526529}"/>
              </a:ext>
            </a:extLst>
          </p:cNvPr>
          <p:cNvSpPr>
            <a:spLocks noGrp="1"/>
          </p:cNvSpPr>
          <p:nvPr>
            <p:ph idx="1"/>
          </p:nvPr>
        </p:nvSpPr>
        <p:spPr>
          <a:xfrm>
            <a:off x="1484310" y="1796716"/>
            <a:ext cx="10018713" cy="4620125"/>
          </a:xfrm>
        </p:spPr>
        <p:txBody>
          <a:bodyPr/>
          <a:lstStyle/>
          <a:p>
            <a:pPr marL="0" indent="0">
              <a:buNone/>
            </a:pPr>
            <a:r>
              <a:rPr lang="en-US" b="1" dirty="0"/>
              <a:t>Features Affecting Cost:</a:t>
            </a:r>
            <a:endParaRPr lang="en-US" dirty="0"/>
          </a:p>
          <a:p>
            <a:pPr lvl="0"/>
            <a:r>
              <a:rPr lang="en-US" dirty="0"/>
              <a:t>Authentication</a:t>
            </a:r>
          </a:p>
          <a:p>
            <a:pPr lvl="0"/>
            <a:r>
              <a:rPr lang="en-US" dirty="0"/>
              <a:t>Payment integration</a:t>
            </a:r>
          </a:p>
          <a:p>
            <a:pPr lvl="0"/>
            <a:r>
              <a:rPr lang="en-US" dirty="0"/>
              <a:t>Cloud storage</a:t>
            </a:r>
          </a:p>
          <a:p>
            <a:pPr lvl="0"/>
            <a:r>
              <a:rPr lang="en-US" dirty="0"/>
              <a:t>Notifications</a:t>
            </a:r>
          </a:p>
          <a:p>
            <a:pPr lvl="0"/>
            <a:r>
              <a:rPr lang="en-US" dirty="0"/>
              <a:t>API integration</a:t>
            </a:r>
          </a:p>
          <a:p>
            <a:pPr marL="0" indent="0">
              <a:buNone/>
            </a:pPr>
            <a:r>
              <a:rPr lang="en-US" b="1" dirty="0"/>
              <a:t>Basic Cost Formula:</a:t>
            </a:r>
            <a:endParaRPr lang="en-US" dirty="0"/>
          </a:p>
          <a:p>
            <a:pPr marL="0" indent="0">
              <a:buNone/>
            </a:pPr>
            <a:r>
              <a:rPr lang="en-US" dirty="0"/>
              <a:t>Cost = Development Time × Hourly Rate</a:t>
            </a:r>
          </a:p>
          <a:p>
            <a:pPr marL="0" indent="0">
              <a:buNone/>
            </a:pPr>
            <a:endParaRPr lang="en-US" dirty="0"/>
          </a:p>
        </p:txBody>
      </p:sp>
    </p:spTree>
    <p:extLst>
      <p:ext uri="{BB962C8B-B14F-4D97-AF65-F5344CB8AC3E}">
        <p14:creationId xmlns:p14="http://schemas.microsoft.com/office/powerpoint/2010/main" val="2763370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81C59-1EE6-BC6F-6EE1-5C5B48C2F612}"/>
              </a:ext>
            </a:extLst>
          </p:cNvPr>
          <p:cNvSpPr>
            <a:spLocks noGrp="1"/>
          </p:cNvSpPr>
          <p:nvPr>
            <p:ph type="title"/>
          </p:nvPr>
        </p:nvSpPr>
        <p:spPr/>
        <p:txBody>
          <a:bodyPr/>
          <a:lstStyle/>
          <a:p>
            <a:r>
              <a:rPr lang="en-US" b="1" dirty="0"/>
              <a:t>CONCLUSION </a:t>
            </a:r>
          </a:p>
        </p:txBody>
      </p:sp>
      <p:sp>
        <p:nvSpPr>
          <p:cNvPr id="3" name="Content Placeholder 2">
            <a:extLst>
              <a:ext uri="{FF2B5EF4-FFF2-40B4-BE49-F238E27FC236}">
                <a16:creationId xmlns:a16="http://schemas.microsoft.com/office/drawing/2014/main" id="{729C1A31-8B69-0630-871C-9BD638ACA25F}"/>
              </a:ext>
            </a:extLst>
          </p:cNvPr>
          <p:cNvSpPr>
            <a:spLocks noGrp="1"/>
          </p:cNvSpPr>
          <p:nvPr>
            <p:ph idx="1"/>
          </p:nvPr>
        </p:nvSpPr>
        <p:spPr/>
        <p:txBody>
          <a:bodyPr>
            <a:normAutofit/>
          </a:bodyPr>
          <a:lstStyle/>
          <a:p>
            <a:pPr marL="0" indent="0">
              <a:buNone/>
            </a:pPr>
            <a:r>
              <a:rPr lang="en-US" dirty="0"/>
              <a:t>Mobile application development involves selecting the right application type, programming language, framework, and architecture. Native apps provide the best performance but are expensive, while hybrid and PWAs reduce cost and development time. Requirement engineering ensures the application meets user needs, while proper cost estimation helps planning and budgeting.</a:t>
            </a:r>
          </a:p>
          <a:p>
            <a:pPr marL="0" indent="0">
              <a:buNone/>
            </a:pPr>
            <a:r>
              <a:rPr lang="en-US" dirty="0"/>
              <a:t>Organizations must choose technologies based on performance needs, cost constraints, and development timelines.</a:t>
            </a:r>
          </a:p>
          <a:p>
            <a:pPr marL="0" indent="0">
              <a:buNone/>
            </a:pPr>
            <a:endParaRPr lang="en-US" dirty="0"/>
          </a:p>
        </p:txBody>
      </p:sp>
    </p:spTree>
    <p:extLst>
      <p:ext uri="{BB962C8B-B14F-4D97-AF65-F5344CB8AC3E}">
        <p14:creationId xmlns:p14="http://schemas.microsoft.com/office/powerpoint/2010/main" val="4110468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143</TotalTime>
  <Words>893</Words>
  <Application>Microsoft Office PowerPoint</Application>
  <PresentationFormat>Widescreen</PresentationFormat>
  <Paragraphs>191</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Corbel</vt:lpstr>
      <vt:lpstr>Parallax</vt:lpstr>
      <vt:lpstr>INTERNET AND MOBILE PROGRAMMING </vt:lpstr>
      <vt:lpstr>Introduction to mobile applications</vt:lpstr>
      <vt:lpstr>Introduction to Mobile Application</vt:lpstr>
      <vt:lpstr>Types Of Mobile Applications</vt:lpstr>
      <vt:lpstr>NATIVE APPLICATIONS</vt:lpstr>
      <vt:lpstr>NATIVE APPLICATIONS</vt:lpstr>
      <vt:lpstr>Progressive Web Applications (PWA)</vt:lpstr>
      <vt:lpstr>Progressive Web Applications (PWA)</vt:lpstr>
      <vt:lpstr>Hybrid Applications</vt:lpstr>
      <vt:lpstr>Hybrid Applications</vt:lpstr>
      <vt:lpstr>Mobile App Programming Language</vt:lpstr>
      <vt:lpstr>Mobile Development Frameworks</vt:lpstr>
      <vt:lpstr>Mobile Application Architectures and Design Patterns </vt:lpstr>
      <vt:lpstr>Mobile Application Architectures and Design Patterns</vt:lpstr>
      <vt:lpstr>Mobile Application Architectures and Design Patterns</vt:lpstr>
      <vt:lpstr>Requirement Engineering Process</vt:lpstr>
      <vt:lpstr>Requirement Engineering Process</vt:lpstr>
      <vt:lpstr>Requirement Engineering Process</vt:lpstr>
      <vt:lpstr>Mobile app development cost estimation</vt:lpstr>
      <vt:lpstr>Mobile app development cost estimation</vt:lpstr>
      <vt:lpstr>Mobile app development cost estimation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guymbowoh@gmail.com</dc:creator>
  <cp:lastModifiedBy>guymbowoh@gmail.com</cp:lastModifiedBy>
  <cp:revision>1</cp:revision>
  <dcterms:created xsi:type="dcterms:W3CDTF">2026-04-07T00:16:45Z</dcterms:created>
  <dcterms:modified xsi:type="dcterms:W3CDTF">2026-04-07T02:40:02Z</dcterms:modified>
</cp:coreProperties>
</file>